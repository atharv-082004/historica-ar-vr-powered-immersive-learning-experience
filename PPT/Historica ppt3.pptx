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5"/>
  </p:notesMasterIdLst>
  <p:sldIdLst>
    <p:sldId id="272" r:id="rId2"/>
    <p:sldId id="257" r:id="rId3"/>
    <p:sldId id="259" r:id="rId4"/>
    <p:sldId id="271" r:id="rId5"/>
    <p:sldId id="260" r:id="rId6"/>
    <p:sldId id="261" r:id="rId7"/>
    <p:sldId id="262" r:id="rId8"/>
    <p:sldId id="264" r:id="rId9"/>
    <p:sldId id="265" r:id="rId10"/>
    <p:sldId id="267" r:id="rId11"/>
    <p:sldId id="266"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16" d="100"/>
          <a:sy n="116" d="100"/>
        </p:scale>
        <p:origin x="3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CFAE5-ADF6-4A84-8EA5-0D21F6BA36C9}" type="datetimeFigureOut">
              <a:rPr lang="en-IN" smtClean="0"/>
              <a:t>06/04/26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5D675-1F46-4B87-A5F8-67DB0C31E211}" type="slidenum">
              <a:rPr lang="en-IN" smtClean="0"/>
              <a:t>‹#›</a:t>
            </a:fld>
            <a:endParaRPr lang="en-IN"/>
          </a:p>
        </p:txBody>
      </p:sp>
    </p:spTree>
    <p:extLst>
      <p:ext uri="{BB962C8B-B14F-4D97-AF65-F5344CB8AC3E}">
        <p14:creationId xmlns:p14="http://schemas.microsoft.com/office/powerpoint/2010/main" val="3763622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35D675-1F46-4B87-A5F8-67DB0C31E211}" type="slidenum">
              <a:rPr lang="en-IN" smtClean="0"/>
              <a:t>12</a:t>
            </a:fld>
            <a:endParaRPr lang="en-IN"/>
          </a:p>
        </p:txBody>
      </p:sp>
    </p:spTree>
    <p:extLst>
      <p:ext uri="{BB962C8B-B14F-4D97-AF65-F5344CB8AC3E}">
        <p14:creationId xmlns:p14="http://schemas.microsoft.com/office/powerpoint/2010/main" val="4124468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F7CE75-2696-426B-A7C6-7629D8CF2437}" type="datetime1">
              <a:rPr lang="en-IN" smtClean="0"/>
              <a:t>06/04/26</a:t>
            </a:fld>
            <a:endParaRPr lang="en-IN"/>
          </a:p>
        </p:txBody>
      </p:sp>
      <p:sp>
        <p:nvSpPr>
          <p:cNvPr id="5" name="Footer Placeholder 4"/>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675972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normAutofit/>
          </a:bodyPr>
          <a:lstStyle>
            <a:lvl1pPr>
              <a:defRPr sz="40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normAutofit/>
          </a:bodyP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600">
                <a:latin typeface="Times New Roman" panose="02020603050405020304" pitchFamily="18" charset="0"/>
                <a:cs typeface="Times New Roman" panose="02020603050405020304" pitchFamily="18" charset="0"/>
              </a:defRPr>
            </a:lvl3pPr>
            <a:lvl4pPr>
              <a:defRPr sz="14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28F0E0-2234-4197-A558-6EA21AC7A0A0}" type="datetime1">
              <a:rPr lang="en-IN" smtClean="0"/>
              <a:t>06/04/26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userDrawn="1"/>
        </p:nvSpPr>
        <p:spPr bwMode="auto">
          <a:xfrm rot="10800000" flipV="1">
            <a:off x="10587856" y="6247184"/>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11222029" y="6338155"/>
            <a:ext cx="779767" cy="365125"/>
          </a:xfrm>
        </p:spPr>
        <p:txBody>
          <a:bodyPr/>
          <a:lstStyle>
            <a:lvl1pPr>
              <a:defRPr>
                <a:solidFill>
                  <a:schemeClr val="bg1"/>
                </a:solidFill>
              </a:defRPr>
            </a:lvl1pPr>
          </a:lstStyle>
          <a:p>
            <a:fld id="{A575ECA5-96F4-415B-9B7B-F5BEE4B08E09}" type="slidenum">
              <a:rPr lang="en-IN" smtClean="0"/>
              <a:pPr/>
              <a:t>‹#›</a:t>
            </a:fld>
            <a:endParaRPr lang="en-IN" dirty="0"/>
          </a:p>
        </p:txBody>
      </p:sp>
      <p:pic>
        <p:nvPicPr>
          <p:cNvPr id="9" name="Picture 8">
            <a:extLst>
              <a:ext uri="{FF2B5EF4-FFF2-40B4-BE49-F238E27FC236}">
                <a16:creationId xmlns:a16="http://schemas.microsoft.com/office/drawing/2014/main" id="{4D4E0AF9-0CD7-865F-F584-E7F93A8852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5710" y="0"/>
            <a:ext cx="1457325" cy="1243013"/>
          </a:xfrm>
          <a:prstGeom prst="rect">
            <a:avLst/>
          </a:prstGeom>
        </p:spPr>
      </p:pic>
      <p:pic>
        <p:nvPicPr>
          <p:cNvPr id="11" name="Picture 10">
            <a:extLst>
              <a:ext uri="{FF2B5EF4-FFF2-40B4-BE49-F238E27FC236}">
                <a16:creationId xmlns:a16="http://schemas.microsoft.com/office/drawing/2014/main" id="{6642BC9D-E099-1948-3435-FFC2468E3BB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1103395" y="-394223"/>
            <a:ext cx="1017037" cy="1808066"/>
          </a:xfrm>
          <a:prstGeom prst="rect">
            <a:avLst/>
          </a:prstGeom>
        </p:spPr>
      </p:pic>
    </p:spTree>
    <p:extLst>
      <p:ext uri="{BB962C8B-B14F-4D97-AF65-F5344CB8AC3E}">
        <p14:creationId xmlns:p14="http://schemas.microsoft.com/office/powerpoint/2010/main" val="368486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133316-F1D2-4CFB-B3A8-36FF84D60DC1}" type="datetime1">
              <a:rPr lang="en-IN" smtClean="0"/>
              <a:t>06/04/26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693941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EDD2DD-462B-4CBA-AA0A-8301F8EE9842}" type="datetime1">
              <a:rPr lang="en-IN" smtClean="0"/>
              <a:t>06/04/26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85902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6F0FB0-DEC5-44F8-B224-7DEA76B58BCE}" type="datetime1">
              <a:rPr lang="en-IN" smtClean="0"/>
              <a:t>06/04/26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225132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2151C4-12AA-486A-8A73-FD7CDFC9A495}" type="datetime1">
              <a:rPr lang="en-IN" smtClean="0"/>
              <a:t>06/04/26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492892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4A1EF-1C77-4320-9664-16BFC03E4F4D}" type="datetime1">
              <a:rPr lang="en-IN" smtClean="0"/>
              <a:t>06/04/26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311484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01BE58-E9FD-47D2-91AC-7CE0251A25B2}" type="datetime1">
              <a:rPr lang="en-IN" smtClean="0"/>
              <a:t>06/04/26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428767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071803-78DB-4882-8A70-E311DA0EF9FC}" type="datetime1">
              <a:rPr lang="en-IN" smtClean="0"/>
              <a:t>06/04/26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766961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B228FF-BE53-47F7-B430-409A097CA437}" type="datetime1">
              <a:rPr lang="en-IN" smtClean="0"/>
              <a:t>06/04/26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69775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065DF8-C87B-4AA2-B81E-F9B41C3DE973}" type="datetime1">
              <a:rPr lang="en-IN" smtClean="0"/>
              <a:t>06/04/26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44965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3031343-E99C-4C22-AAE8-C343A811CECF}" type="datetime1">
              <a:rPr lang="en-IN" smtClean="0"/>
              <a:t>06/04/26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787278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65CDC9B-DBC7-4258-BEB9-733492353AF9}" type="datetime1">
              <a:rPr lang="en-IN" smtClean="0"/>
              <a:t>06/04/26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15122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A3C6488-E703-4AFF-AB60-B11F0E50C7BC}" type="datetime1">
              <a:rPr lang="en-IN" smtClean="0"/>
              <a:t>06/04/26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273111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F63479-18BA-4E37-9716-A08D210E9EC7}" type="datetime1">
              <a:rPr lang="en-IN" smtClean="0"/>
              <a:t>06/04/26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535254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F7E75-1528-41FC-88CA-CFEB217670A5}" type="datetime1">
              <a:rPr lang="en-IN" smtClean="0"/>
              <a:t>06/04/26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73855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F858841-AB6D-42AC-A9E1-E0D97A1068DD}" type="datetime1">
              <a:rPr lang="en-IN" smtClean="0"/>
              <a:t>06/04/26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193EE77-AAE2-43CD-9ABE-9DB80FB4FF84}" type="slidenum">
              <a:rPr lang="en-IN" smtClean="0"/>
              <a:t>‹#›</a:t>
            </a:fld>
            <a:endParaRPr lang="en-IN"/>
          </a:p>
        </p:txBody>
      </p:sp>
    </p:spTree>
    <p:extLst>
      <p:ext uri="{BB962C8B-B14F-4D97-AF65-F5344CB8AC3E}">
        <p14:creationId xmlns:p14="http://schemas.microsoft.com/office/powerpoint/2010/main" val="114260593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4E13-AF13-FE84-B59A-88C7FF0DDD90}"/>
              </a:ext>
            </a:extLst>
          </p:cNvPr>
          <p:cNvSpPr>
            <a:spLocks noGrp="1"/>
          </p:cNvSpPr>
          <p:nvPr>
            <p:ph type="ctrTitle"/>
          </p:nvPr>
        </p:nvSpPr>
        <p:spPr>
          <a:xfrm>
            <a:off x="2261221" y="1133061"/>
            <a:ext cx="8915399" cy="2511551"/>
          </a:xfrm>
        </p:spPr>
        <p:txBody>
          <a:bodyPr>
            <a:normAutofit fontScale="90000"/>
          </a:bodyPr>
          <a:lstStyle/>
          <a:p>
            <a:pPr algn="ct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r>
              <a:rPr lang="en-IN" sz="3100" dirty="0">
                <a:latin typeface="Times New Roman" panose="02020603050405020304" pitchFamily="18" charset="0"/>
                <a:cs typeface="Times New Roman" panose="02020603050405020304" pitchFamily="18" charset="0"/>
              </a:rPr>
              <a:t>Presentation</a:t>
            </a: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on </a:t>
            </a:r>
            <a:br>
              <a:rPr lang="en-IN" dirty="0">
                <a:latin typeface="Times New Roman" panose="02020603050405020304" pitchFamily="18" charset="0"/>
                <a:cs typeface="Times New Roman" panose="02020603050405020304" pitchFamily="18" charset="0"/>
              </a:rPr>
            </a:br>
            <a:r>
              <a:rPr lang="en-IN" dirty="0" err="1">
                <a:latin typeface="Elephant" panose="02020904090505020303" pitchFamily="18" charset="0"/>
                <a:cs typeface="Times New Roman" panose="02020603050405020304" pitchFamily="18" charset="0"/>
              </a:rPr>
              <a:t>Historica</a:t>
            </a:r>
            <a:br>
              <a:rPr lang="en-IN"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AR/VR Powered Immersive Historical Learning Experience</a:t>
            </a:r>
            <a:br>
              <a:rPr lang="en-IN" sz="3100" dirty="0">
                <a:latin typeface="Times New Roman" panose="02020603050405020304" pitchFamily="18" charset="0"/>
                <a:cs typeface="Times New Roman" panose="02020603050405020304" pitchFamily="18" charset="0"/>
              </a:rPr>
            </a:br>
            <a:endParaRPr lang="en-IN" sz="31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4B09E56-A5E9-0BDC-98BD-DDD921DCD7E1}"/>
              </a:ext>
            </a:extLst>
          </p:cNvPr>
          <p:cNvSpPr>
            <a:spLocks noGrp="1"/>
          </p:cNvSpPr>
          <p:nvPr>
            <p:ph type="subTitle" idx="1"/>
          </p:nvPr>
        </p:nvSpPr>
        <p:spPr>
          <a:xfrm>
            <a:off x="2375453" y="3747052"/>
            <a:ext cx="9079464" cy="3031435"/>
          </a:xfrm>
        </p:spPr>
        <p:txBody>
          <a:bodyPr>
            <a:normAutofit fontScale="92500" lnSpcReduction="10000"/>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Guided By: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Prof.  Monika Choudhary								Atharv Sharma (0827IT233D02)</a:t>
            </a:r>
          </a:p>
          <a:p>
            <a:r>
              <a:rPr lang="en-IN" dirty="0">
                <a:latin typeface="Times New Roman" panose="02020603050405020304" pitchFamily="18" charset="0"/>
                <a:cs typeface="Times New Roman" panose="02020603050405020304" pitchFamily="18" charset="0"/>
              </a:rPr>
              <a:t>												Khushi Agrawal (0827IT221076)</a:t>
            </a:r>
          </a:p>
          <a:p>
            <a:r>
              <a:rPr lang="en-IN" dirty="0">
                <a:latin typeface="Times New Roman" panose="02020603050405020304" pitchFamily="18" charset="0"/>
                <a:cs typeface="Times New Roman" panose="02020603050405020304" pitchFamily="18" charset="0"/>
              </a:rPr>
              <a:t>												Abhishek Rathore (0827IT233D01)</a:t>
            </a:r>
          </a:p>
          <a:p>
            <a:r>
              <a:rPr lang="en-IN" dirty="0">
                <a:latin typeface="Times New Roman" panose="02020603050405020304" pitchFamily="18" charset="0"/>
                <a:cs typeface="Times New Roman" panose="02020603050405020304" pitchFamily="18" charset="0"/>
              </a:rPr>
              <a:t>												Jatin Rao (0827IT233D03)</a:t>
            </a:r>
          </a:p>
          <a:p>
            <a:r>
              <a:rPr lang="en-IN" dirty="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69BC312B-2F58-B7DE-00D2-0142F8801F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059" y="-354166"/>
            <a:ext cx="1175716" cy="2090162"/>
          </a:xfrm>
          <a:prstGeom prst="rect">
            <a:avLst/>
          </a:prstGeom>
        </p:spPr>
      </p:pic>
      <p:pic>
        <p:nvPicPr>
          <p:cNvPr id="9" name="Picture 8">
            <a:extLst>
              <a:ext uri="{FF2B5EF4-FFF2-40B4-BE49-F238E27FC236}">
                <a16:creationId xmlns:a16="http://schemas.microsoft.com/office/drawing/2014/main" id="{145F9EF6-DBB5-9291-78C0-1BD5FCF2C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75" y="0"/>
            <a:ext cx="1620078" cy="1381831"/>
          </a:xfrm>
          <a:prstGeom prst="rect">
            <a:avLst/>
          </a:prstGeom>
        </p:spPr>
      </p:pic>
    </p:spTree>
    <p:extLst>
      <p:ext uri="{BB962C8B-B14F-4D97-AF65-F5344CB8AC3E}">
        <p14:creationId xmlns:p14="http://schemas.microsoft.com/office/powerpoint/2010/main" val="1404953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98BD3-82F3-F887-7675-7696E56FA9EA}"/>
              </a:ext>
            </a:extLst>
          </p:cNvPr>
          <p:cNvSpPr>
            <a:spLocks noGrp="1"/>
          </p:cNvSpPr>
          <p:nvPr>
            <p:ph type="title"/>
          </p:nvPr>
        </p:nvSpPr>
        <p:spPr>
          <a:xfrm>
            <a:off x="2175164" y="96982"/>
            <a:ext cx="9325735" cy="831273"/>
          </a:xfrm>
        </p:spPr>
        <p:txBody>
          <a:bodyPr/>
          <a:lstStyle/>
          <a:p>
            <a:r>
              <a:rPr lang="en-IN" dirty="0"/>
              <a:t>Contents</a:t>
            </a:r>
          </a:p>
        </p:txBody>
      </p:sp>
      <p:sp>
        <p:nvSpPr>
          <p:cNvPr id="3" name="Content Placeholder 2">
            <a:extLst>
              <a:ext uri="{FF2B5EF4-FFF2-40B4-BE49-F238E27FC236}">
                <a16:creationId xmlns:a16="http://schemas.microsoft.com/office/drawing/2014/main" id="{CF4DD591-8615-A08A-67F8-943007048E4D}"/>
              </a:ext>
            </a:extLst>
          </p:cNvPr>
          <p:cNvSpPr>
            <a:spLocks noGrp="1"/>
          </p:cNvSpPr>
          <p:nvPr>
            <p:ph idx="1"/>
          </p:nvPr>
        </p:nvSpPr>
        <p:spPr>
          <a:xfrm>
            <a:off x="2424545" y="928254"/>
            <a:ext cx="9080067" cy="5775025"/>
          </a:xfrm>
        </p:spPr>
        <p:txBody>
          <a:bodyPr>
            <a:noAutofit/>
          </a:bodyPr>
          <a:lstStyle/>
          <a:p>
            <a:pPr marL="0" indent="0">
              <a:buNone/>
            </a:pPr>
            <a:r>
              <a:rPr lang="en-US" sz="1800" dirty="0"/>
              <a:t>1. Methodology</a:t>
            </a:r>
          </a:p>
          <a:p>
            <a:pPr marL="0" indent="0">
              <a:buNone/>
            </a:pPr>
            <a:r>
              <a:rPr lang="en-US" sz="1800" dirty="0"/>
              <a:t>	1.1 Proposed Algorithm</a:t>
            </a:r>
          </a:p>
          <a:p>
            <a:pPr marL="0" indent="0">
              <a:buNone/>
            </a:pPr>
            <a:r>
              <a:rPr lang="en-US" sz="1800" dirty="0"/>
              <a:t>2. Implementation Approach</a:t>
            </a:r>
          </a:p>
          <a:p>
            <a:pPr marL="0" indent="0">
              <a:buNone/>
            </a:pPr>
            <a:r>
              <a:rPr lang="en-US" sz="1800" dirty="0"/>
              <a:t>	2.1 Introduction to Languages, IDEs Tools and Technologies</a:t>
            </a:r>
          </a:p>
          <a:p>
            <a:pPr marL="0" indent="0">
              <a:buNone/>
            </a:pPr>
            <a:r>
              <a:rPr lang="en-US" sz="1800" dirty="0"/>
              <a:t>3. Testing Approaches</a:t>
            </a:r>
          </a:p>
          <a:p>
            <a:pPr marL="0" indent="0">
              <a:buNone/>
            </a:pPr>
            <a:r>
              <a:rPr lang="en-US" sz="1800" dirty="0"/>
              <a:t>	3.1 Unit Testing</a:t>
            </a:r>
          </a:p>
          <a:p>
            <a:pPr marL="0" indent="0">
              <a:buNone/>
            </a:pPr>
            <a:r>
              <a:rPr lang="en-US" sz="1800" dirty="0"/>
              <a:t>		a. Test Cases</a:t>
            </a:r>
          </a:p>
          <a:p>
            <a:pPr marL="0" indent="0">
              <a:buNone/>
            </a:pPr>
            <a:r>
              <a:rPr lang="en-US" sz="1800" dirty="0"/>
              <a:t>	3.2 Integration Testing</a:t>
            </a:r>
          </a:p>
          <a:p>
            <a:pPr marL="0" indent="0">
              <a:buNone/>
            </a:pPr>
            <a:r>
              <a:rPr lang="en-US" sz="1800" dirty="0"/>
              <a:t>		b. Test Cases</a:t>
            </a:r>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E8A21891-9C7A-E4D4-07BD-AF0CB8124C66}"/>
              </a:ext>
            </a:extLst>
          </p:cNvPr>
          <p:cNvSpPr>
            <a:spLocks noGrp="1"/>
          </p:cNvSpPr>
          <p:nvPr>
            <p:ph type="sldNum" sz="quarter" idx="12"/>
          </p:nvPr>
        </p:nvSpPr>
        <p:spPr/>
        <p:txBody>
          <a:bodyPr/>
          <a:lstStyle/>
          <a:p>
            <a:fld id="{A575ECA5-96F4-415B-9B7B-F5BEE4B08E09}" type="slidenum">
              <a:rPr lang="en-IN" smtClean="0"/>
              <a:pPr/>
              <a:t>2</a:t>
            </a:fld>
            <a:endParaRPr lang="en-IN" dirty="0"/>
          </a:p>
        </p:txBody>
      </p:sp>
    </p:spTree>
    <p:extLst>
      <p:ext uri="{BB962C8B-B14F-4D97-AF65-F5344CB8AC3E}">
        <p14:creationId xmlns:p14="http://schemas.microsoft.com/office/powerpoint/2010/main" val="104864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98BD3-82F3-F887-7675-7696E56FA9EA}"/>
              </a:ext>
            </a:extLst>
          </p:cNvPr>
          <p:cNvSpPr>
            <a:spLocks noGrp="1"/>
          </p:cNvSpPr>
          <p:nvPr>
            <p:ph type="title"/>
          </p:nvPr>
        </p:nvSpPr>
        <p:spPr>
          <a:xfrm>
            <a:off x="2175164" y="96982"/>
            <a:ext cx="9325735" cy="831273"/>
          </a:xfrm>
        </p:spPr>
        <p:txBody>
          <a:bodyPr/>
          <a:lstStyle/>
          <a:p>
            <a:r>
              <a:rPr lang="en-IN" dirty="0"/>
              <a:t>Contents (Continued)</a:t>
            </a:r>
          </a:p>
        </p:txBody>
      </p:sp>
      <p:sp>
        <p:nvSpPr>
          <p:cNvPr id="3" name="Content Placeholder 2">
            <a:extLst>
              <a:ext uri="{FF2B5EF4-FFF2-40B4-BE49-F238E27FC236}">
                <a16:creationId xmlns:a16="http://schemas.microsoft.com/office/drawing/2014/main" id="{CF4DD591-8615-A08A-67F8-943007048E4D}"/>
              </a:ext>
            </a:extLst>
          </p:cNvPr>
          <p:cNvSpPr>
            <a:spLocks noGrp="1"/>
          </p:cNvSpPr>
          <p:nvPr>
            <p:ph idx="1"/>
          </p:nvPr>
        </p:nvSpPr>
        <p:spPr>
          <a:xfrm>
            <a:off x="2424545" y="928254"/>
            <a:ext cx="9080067" cy="5775025"/>
          </a:xfrm>
        </p:spPr>
        <p:txBody>
          <a:bodyPr>
            <a:noAutofit/>
          </a:bodyPr>
          <a:lstStyle/>
          <a:p>
            <a:pPr marL="0" indent="0">
              <a:buNone/>
            </a:pPr>
            <a:endParaRPr lang="en-US" sz="1800" dirty="0"/>
          </a:p>
          <a:p>
            <a:pPr marL="0" indent="0">
              <a:buNone/>
            </a:pPr>
            <a:r>
              <a:rPr lang="en-IN" sz="1800" dirty="0"/>
              <a:t>4. Results &amp; Discussion</a:t>
            </a:r>
          </a:p>
          <a:p>
            <a:pPr marL="0" indent="0">
              <a:buNone/>
            </a:pPr>
            <a:r>
              <a:rPr lang="en-IN" sz="1800" dirty="0"/>
              <a:t>	4.1 User Interface Representation</a:t>
            </a:r>
          </a:p>
          <a:p>
            <a:pPr marL="0" indent="0">
              <a:buNone/>
            </a:pPr>
            <a:r>
              <a:rPr lang="en-IN" sz="1800" dirty="0"/>
              <a:t>		4.1.1 Brief Description of Various Modules</a:t>
            </a:r>
          </a:p>
          <a:p>
            <a:pPr marL="0" indent="0">
              <a:buNone/>
            </a:pPr>
            <a:r>
              <a:rPr lang="en-IN" sz="1800" dirty="0"/>
              <a:t>	4.2 Snapshot of System with Brief Description</a:t>
            </a:r>
          </a:p>
          <a:p>
            <a:pPr marL="0" indent="0">
              <a:buNone/>
            </a:pPr>
            <a:r>
              <a:rPr lang="en-IN" sz="1800" dirty="0"/>
              <a:t>	4.3 Database Description</a:t>
            </a:r>
          </a:p>
          <a:p>
            <a:pPr marL="0" indent="0">
              <a:buNone/>
            </a:pPr>
            <a:r>
              <a:rPr lang="en-IN" sz="1800" dirty="0"/>
              <a:t>		4.3.1 Snapshot of Database Tables with Brief Description</a:t>
            </a:r>
          </a:p>
          <a:p>
            <a:pPr marL="0" indent="0">
              <a:buNone/>
            </a:pPr>
            <a:r>
              <a:rPr lang="en-IN" sz="1800" dirty="0"/>
              <a:t>	4.4 Final Findings</a:t>
            </a:r>
          </a:p>
          <a:p>
            <a:pPr marL="0" indent="0">
              <a:buNone/>
            </a:pPr>
            <a:r>
              <a:rPr lang="en-IN" sz="1800" dirty="0"/>
              <a:t>5. Conclusion &amp; Future Scope</a:t>
            </a:r>
          </a:p>
          <a:p>
            <a:pPr marL="0" indent="0">
              <a:buNone/>
            </a:pPr>
            <a:r>
              <a:rPr lang="en-IN" sz="1800" dirty="0"/>
              <a:t>	5.1 Conclusion </a:t>
            </a:r>
          </a:p>
          <a:p>
            <a:pPr marL="0" indent="0">
              <a:buNone/>
            </a:pPr>
            <a:r>
              <a:rPr lang="en-IN" sz="1800" dirty="0"/>
              <a:t>	5.2 Future Scope</a:t>
            </a:r>
          </a:p>
          <a:p>
            <a:pPr marL="0" indent="0">
              <a:buNone/>
            </a:pP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E8A21891-9C7A-E4D4-07BD-AF0CB8124C66}"/>
              </a:ext>
            </a:extLst>
          </p:cNvPr>
          <p:cNvSpPr>
            <a:spLocks noGrp="1"/>
          </p:cNvSpPr>
          <p:nvPr>
            <p:ph type="sldNum" sz="quarter" idx="12"/>
          </p:nvPr>
        </p:nvSpPr>
        <p:spPr/>
        <p:txBody>
          <a:bodyPr/>
          <a:lstStyle/>
          <a:p>
            <a:fld id="{A575ECA5-96F4-415B-9B7B-F5BEE4B08E09}" type="slidenum">
              <a:rPr lang="en-IN" smtClean="0"/>
              <a:pPr/>
              <a:t>3</a:t>
            </a:fld>
            <a:endParaRPr lang="en-IN" dirty="0"/>
          </a:p>
        </p:txBody>
      </p:sp>
    </p:spTree>
    <p:extLst>
      <p:ext uri="{BB962C8B-B14F-4D97-AF65-F5344CB8AC3E}">
        <p14:creationId xmlns:p14="http://schemas.microsoft.com/office/powerpoint/2010/main" val="1314504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7BC33-58AC-E443-F4B1-FD7E266F6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2A741-8832-033B-5DF1-9F11CE669CE8}"/>
              </a:ext>
            </a:extLst>
          </p:cNvPr>
          <p:cNvSpPr>
            <a:spLocks noGrp="1"/>
          </p:cNvSpPr>
          <p:nvPr>
            <p:ph type="title"/>
          </p:nvPr>
        </p:nvSpPr>
        <p:spPr>
          <a:xfrm>
            <a:off x="1671667" y="14858"/>
            <a:ext cx="8911687" cy="1280890"/>
          </a:xfrm>
        </p:spPr>
        <p:txBody>
          <a:bodyPr>
            <a:normAutofit/>
          </a:bodyPr>
          <a:lstStyle/>
          <a:p>
            <a:r>
              <a:rPr lang="en-GB" sz="2800" b="1" dirty="0"/>
              <a:t>1. Methodology</a:t>
            </a:r>
            <a:br>
              <a:rPr lang="en-GB" sz="2800" dirty="0"/>
            </a:br>
            <a:r>
              <a:rPr lang="en-GB" sz="2800" dirty="0"/>
              <a:t>1.1 Proposed Algorithm</a:t>
            </a:r>
            <a:endParaRPr lang="en-IN" sz="2800" dirty="0"/>
          </a:p>
        </p:txBody>
      </p:sp>
      <p:sp>
        <p:nvSpPr>
          <p:cNvPr id="3" name="Content Placeholder 2">
            <a:extLst>
              <a:ext uri="{FF2B5EF4-FFF2-40B4-BE49-F238E27FC236}">
                <a16:creationId xmlns:a16="http://schemas.microsoft.com/office/drawing/2014/main" id="{B43128BA-97E5-D124-DD76-19ADC6F1366F}"/>
              </a:ext>
            </a:extLst>
          </p:cNvPr>
          <p:cNvSpPr>
            <a:spLocks noGrp="1"/>
          </p:cNvSpPr>
          <p:nvPr>
            <p:ph idx="1"/>
          </p:nvPr>
        </p:nvSpPr>
        <p:spPr>
          <a:xfrm>
            <a:off x="1671668" y="1080653"/>
            <a:ext cx="9716768" cy="6031347"/>
          </a:xfrm>
        </p:spPr>
        <p:txBody>
          <a:bodyPr>
            <a:normAutofit fontScale="70000" lnSpcReduction="20000"/>
          </a:bodyPr>
          <a:lstStyle/>
          <a:p>
            <a:pPr>
              <a:buNone/>
            </a:pPr>
            <a:r>
              <a:rPr lang="en-US" b="1" dirty="0"/>
              <a:t>1. Requirement Analysis</a:t>
            </a:r>
          </a:p>
          <a:p>
            <a:pPr>
              <a:buFont typeface="Arial" panose="020B0604020202020204" pitchFamily="34" charset="0"/>
              <a:buChar char="•"/>
            </a:pPr>
            <a:r>
              <a:rPr lang="en-US" dirty="0"/>
              <a:t>Conducted research to identify gaps in traditional history education and current AR/VR solutions.</a:t>
            </a:r>
          </a:p>
          <a:p>
            <a:pPr>
              <a:buFont typeface="Arial" panose="020B0604020202020204" pitchFamily="34" charset="0"/>
              <a:buChar char="•"/>
            </a:pPr>
            <a:r>
              <a:rPr lang="en-US" dirty="0"/>
              <a:t>Defined key user needs: accessibility, interactivity, historical accuracy, and immersive visualization.</a:t>
            </a:r>
          </a:p>
          <a:p>
            <a:pPr>
              <a:buFont typeface="Arial" panose="020B0604020202020204" pitchFamily="34" charset="0"/>
              <a:buChar char="•"/>
            </a:pPr>
            <a:r>
              <a:rPr lang="en-US" dirty="0"/>
              <a:t>Finalized project scope to include interactive 3D AR models, historical simulations, and AI-based reconstructions.</a:t>
            </a:r>
          </a:p>
          <a:p>
            <a:pPr>
              <a:buNone/>
            </a:pPr>
            <a:r>
              <a:rPr lang="en-IN" b="1" dirty="0"/>
              <a:t>2. System Design</a:t>
            </a:r>
          </a:p>
          <a:p>
            <a:pPr>
              <a:buFont typeface="Arial" panose="020B0604020202020204" pitchFamily="34" charset="0"/>
              <a:buChar char="•"/>
            </a:pPr>
            <a:r>
              <a:rPr lang="en-IN" b="1" dirty="0"/>
              <a:t>Architecture Design</a:t>
            </a:r>
            <a:r>
              <a:rPr lang="en-IN" dirty="0"/>
              <a:t>:</a:t>
            </a:r>
          </a:p>
          <a:p>
            <a:pPr marL="742950" lvl="1" indent="-285750">
              <a:buFont typeface="Arial" panose="020B0604020202020204" pitchFamily="34" charset="0"/>
              <a:buChar char="•"/>
            </a:pPr>
            <a:r>
              <a:rPr lang="en-IN" dirty="0"/>
              <a:t>Client-server model with a decoupled frontend (React + Three.js) and backend (Node.js/Express).</a:t>
            </a:r>
          </a:p>
          <a:p>
            <a:pPr>
              <a:buFont typeface="Arial" panose="020B0604020202020204" pitchFamily="34" charset="0"/>
              <a:buChar char="•"/>
            </a:pPr>
            <a:r>
              <a:rPr lang="en-IN" b="1" dirty="0"/>
              <a:t>Component Design</a:t>
            </a:r>
            <a:r>
              <a:rPr lang="en-IN" dirty="0"/>
              <a:t>:</a:t>
            </a:r>
          </a:p>
          <a:p>
            <a:pPr marL="742950" lvl="1" indent="-285750">
              <a:buFont typeface="Arial" panose="020B0604020202020204" pitchFamily="34" charset="0"/>
              <a:buChar char="•"/>
            </a:pPr>
            <a:r>
              <a:rPr lang="en-IN" dirty="0"/>
              <a:t>Modular components for map interface, time travel scenes, 3D avatars, and AI interactions.</a:t>
            </a:r>
          </a:p>
          <a:p>
            <a:pPr marL="742950" lvl="1" indent="-285750">
              <a:buFont typeface="Arial" panose="020B0604020202020204" pitchFamily="34" charset="0"/>
              <a:buChar char="•"/>
            </a:pPr>
            <a:r>
              <a:rPr lang="en-IN" dirty="0"/>
              <a:t>Integration of AR views through browser-based 3D rendering engines using WebGL.</a:t>
            </a:r>
          </a:p>
          <a:p>
            <a:pPr>
              <a:buNone/>
            </a:pPr>
            <a:r>
              <a:rPr lang="en-US" b="1" dirty="0"/>
              <a:t>3. Front-End Implementation</a:t>
            </a:r>
          </a:p>
          <a:p>
            <a:pPr>
              <a:buFont typeface="Arial" panose="020B0604020202020204" pitchFamily="34" charset="0"/>
              <a:buChar char="•"/>
            </a:pPr>
            <a:r>
              <a:rPr lang="en-US" dirty="0"/>
              <a:t>Developed a dynamic interface using </a:t>
            </a:r>
            <a:r>
              <a:rPr lang="en-US" b="1" dirty="0"/>
              <a:t>React 18</a:t>
            </a:r>
            <a:r>
              <a:rPr lang="en-US" dirty="0"/>
              <a:t> with </a:t>
            </a:r>
            <a:r>
              <a:rPr lang="en-US" b="1" dirty="0"/>
              <a:t>TypeScript</a:t>
            </a:r>
            <a:r>
              <a:rPr lang="en-US" dirty="0"/>
              <a:t> for robustness and scalability.</a:t>
            </a:r>
          </a:p>
          <a:p>
            <a:pPr>
              <a:buFont typeface="Arial" panose="020B0604020202020204" pitchFamily="34" charset="0"/>
              <a:buChar char="•"/>
            </a:pPr>
            <a:r>
              <a:rPr lang="en-US" dirty="0"/>
              <a:t>Integrated </a:t>
            </a:r>
            <a:r>
              <a:rPr lang="en-US" b="1" dirty="0"/>
              <a:t>Leaflet.js</a:t>
            </a:r>
            <a:r>
              <a:rPr lang="en-US" dirty="0"/>
              <a:t> for map-based historical exploration.</a:t>
            </a:r>
          </a:p>
          <a:p>
            <a:pPr>
              <a:buFont typeface="Arial" panose="020B0604020202020204" pitchFamily="34" charset="0"/>
              <a:buChar char="•"/>
            </a:pPr>
            <a:r>
              <a:rPr lang="en-US" dirty="0"/>
              <a:t>Utilized </a:t>
            </a:r>
            <a:r>
              <a:rPr lang="en-US" b="1" dirty="0"/>
              <a:t>React Three Fiber</a:t>
            </a:r>
            <a:r>
              <a:rPr lang="en-US" dirty="0"/>
              <a:t> and </a:t>
            </a:r>
            <a:r>
              <a:rPr lang="en-US" b="1" dirty="0"/>
              <a:t>Three.js</a:t>
            </a:r>
            <a:r>
              <a:rPr lang="en-US" dirty="0"/>
              <a:t> to render interactive 3D historical environments.</a:t>
            </a:r>
          </a:p>
          <a:p>
            <a:pPr>
              <a:buFont typeface="Arial" panose="020B0604020202020204" pitchFamily="34" charset="0"/>
              <a:buChar char="•"/>
            </a:pPr>
            <a:r>
              <a:rPr lang="en-US" dirty="0"/>
              <a:t>Added </a:t>
            </a:r>
            <a:r>
              <a:rPr lang="en-US" b="1" dirty="0"/>
              <a:t>Framer Motion</a:t>
            </a:r>
            <a:r>
              <a:rPr lang="en-US" dirty="0"/>
              <a:t> and </a:t>
            </a:r>
            <a:r>
              <a:rPr lang="en-US" b="1" dirty="0"/>
              <a:t>Radix UI</a:t>
            </a:r>
            <a:r>
              <a:rPr lang="en-US" dirty="0"/>
              <a:t> for animations and UI elements to enhance user experience.</a:t>
            </a:r>
          </a:p>
          <a:p>
            <a:pPr marL="0" indent="0">
              <a:buNone/>
            </a:pPr>
            <a:endParaRPr lang="en-IN" dirty="0"/>
          </a:p>
        </p:txBody>
      </p:sp>
      <p:sp>
        <p:nvSpPr>
          <p:cNvPr id="4" name="Slide Number Placeholder 3">
            <a:extLst>
              <a:ext uri="{FF2B5EF4-FFF2-40B4-BE49-F238E27FC236}">
                <a16:creationId xmlns:a16="http://schemas.microsoft.com/office/drawing/2014/main" id="{51CF20AF-8BDE-6615-BEF6-F60675B022F6}"/>
              </a:ext>
            </a:extLst>
          </p:cNvPr>
          <p:cNvSpPr>
            <a:spLocks noGrp="1"/>
          </p:cNvSpPr>
          <p:nvPr>
            <p:ph type="sldNum" sz="quarter" idx="12"/>
          </p:nvPr>
        </p:nvSpPr>
        <p:spPr/>
        <p:txBody>
          <a:bodyPr/>
          <a:lstStyle/>
          <a:p>
            <a:fld id="{A575ECA5-96F4-415B-9B7B-F5BEE4B08E09}" type="slidenum">
              <a:rPr lang="en-IN" smtClean="0"/>
              <a:pPr/>
              <a:t>4</a:t>
            </a:fld>
            <a:endParaRPr lang="en-IN" dirty="0"/>
          </a:p>
        </p:txBody>
      </p:sp>
    </p:spTree>
    <p:extLst>
      <p:ext uri="{BB962C8B-B14F-4D97-AF65-F5344CB8AC3E}">
        <p14:creationId xmlns:p14="http://schemas.microsoft.com/office/powerpoint/2010/main" val="3859294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34946-E085-603E-2DFB-D86B6FF3EC48}"/>
              </a:ext>
            </a:extLst>
          </p:cNvPr>
          <p:cNvSpPr>
            <a:spLocks noGrp="1"/>
          </p:cNvSpPr>
          <p:nvPr>
            <p:ph type="title"/>
          </p:nvPr>
        </p:nvSpPr>
        <p:spPr>
          <a:xfrm>
            <a:off x="1671667" y="0"/>
            <a:ext cx="8911687" cy="1280890"/>
          </a:xfrm>
        </p:spPr>
        <p:txBody>
          <a:bodyPr>
            <a:normAutofit/>
          </a:bodyPr>
          <a:lstStyle/>
          <a:p>
            <a:r>
              <a:rPr lang="en-GB" sz="2800" b="1" dirty="0"/>
              <a:t>1. Methodology</a:t>
            </a:r>
            <a:br>
              <a:rPr lang="en-GB" sz="2800" dirty="0"/>
            </a:br>
            <a:r>
              <a:rPr lang="en-GB" sz="2800" dirty="0"/>
              <a:t>1.1 Proposed Algorithm</a:t>
            </a:r>
            <a:endParaRPr lang="en-IN" sz="2800" dirty="0"/>
          </a:p>
        </p:txBody>
      </p:sp>
      <p:sp>
        <p:nvSpPr>
          <p:cNvPr id="3" name="Content Placeholder 2">
            <a:extLst>
              <a:ext uri="{FF2B5EF4-FFF2-40B4-BE49-F238E27FC236}">
                <a16:creationId xmlns:a16="http://schemas.microsoft.com/office/drawing/2014/main" id="{BB25E69B-350C-6402-2987-17CBBB8FE2AD}"/>
              </a:ext>
            </a:extLst>
          </p:cNvPr>
          <p:cNvSpPr>
            <a:spLocks noGrp="1"/>
          </p:cNvSpPr>
          <p:nvPr>
            <p:ph idx="1"/>
          </p:nvPr>
        </p:nvSpPr>
        <p:spPr>
          <a:xfrm>
            <a:off x="1671667" y="1047404"/>
            <a:ext cx="9940245" cy="5655875"/>
          </a:xfrm>
        </p:spPr>
        <p:txBody>
          <a:bodyPr>
            <a:normAutofit fontScale="70000" lnSpcReduction="20000"/>
          </a:bodyPr>
          <a:lstStyle/>
          <a:p>
            <a:pPr>
              <a:buNone/>
            </a:pPr>
            <a:r>
              <a:rPr lang="en-IN" b="1" dirty="0"/>
              <a:t>4. Back-End Development</a:t>
            </a:r>
          </a:p>
          <a:p>
            <a:pPr>
              <a:buFont typeface="Arial" panose="020B0604020202020204" pitchFamily="34" charset="0"/>
              <a:buChar char="•"/>
            </a:pPr>
            <a:r>
              <a:rPr lang="en-IN" dirty="0"/>
              <a:t>Built RESTful APIs using </a:t>
            </a:r>
            <a:r>
              <a:rPr lang="en-IN" b="1" dirty="0"/>
              <a:t>Express.js with TypeScript</a:t>
            </a:r>
            <a:r>
              <a:rPr lang="en-IN" dirty="0"/>
              <a:t> for secure and scalable data operations.</a:t>
            </a:r>
          </a:p>
          <a:p>
            <a:pPr>
              <a:buFont typeface="Arial" panose="020B0604020202020204" pitchFamily="34" charset="0"/>
              <a:buChar char="•"/>
            </a:pPr>
            <a:r>
              <a:rPr lang="en-IN" dirty="0"/>
              <a:t>Implemented </a:t>
            </a:r>
            <a:r>
              <a:rPr lang="en-IN" b="1" dirty="0"/>
              <a:t>session management</a:t>
            </a:r>
            <a:r>
              <a:rPr lang="en-IN" dirty="0"/>
              <a:t> for user authentication and personalization.</a:t>
            </a:r>
          </a:p>
          <a:p>
            <a:pPr>
              <a:buNone/>
            </a:pPr>
            <a:r>
              <a:rPr lang="en-US" b="1" dirty="0"/>
              <a:t>5. AI Integration</a:t>
            </a:r>
          </a:p>
          <a:p>
            <a:pPr>
              <a:buFont typeface="Arial" panose="020B0604020202020204" pitchFamily="34" charset="0"/>
              <a:buChar char="•"/>
            </a:pPr>
            <a:r>
              <a:rPr lang="en-US" dirty="0"/>
              <a:t>Leveraged </a:t>
            </a:r>
            <a:r>
              <a:rPr lang="en-US" b="1" dirty="0"/>
              <a:t>Generative AI</a:t>
            </a:r>
            <a:r>
              <a:rPr lang="en-US" dirty="0"/>
              <a:t> to recreate historical scenes, events, and characters using pre-trained models.</a:t>
            </a:r>
          </a:p>
          <a:p>
            <a:pPr>
              <a:buFont typeface="Arial" panose="020B0604020202020204" pitchFamily="34" charset="0"/>
              <a:buChar char="•"/>
            </a:pPr>
            <a:r>
              <a:rPr lang="en-US" dirty="0"/>
              <a:t>Enabled AI-driven interactions with historical avatars using NLP models to simulate conversations and storytelling.</a:t>
            </a:r>
          </a:p>
          <a:p>
            <a:pPr>
              <a:buFont typeface="Arial" panose="020B0604020202020204" pitchFamily="34" charset="0"/>
              <a:buChar char="•"/>
            </a:pPr>
            <a:r>
              <a:rPr lang="en-US" dirty="0"/>
              <a:t>Designed a “Quantum History Mode” to simulate alternative timelines and "What If" scenarios.</a:t>
            </a:r>
          </a:p>
          <a:p>
            <a:pPr>
              <a:buNone/>
            </a:pPr>
            <a:r>
              <a:rPr lang="en-US" b="1" dirty="0"/>
              <a:t>6. 3D Asset &amp; Scene Development</a:t>
            </a:r>
          </a:p>
          <a:p>
            <a:pPr>
              <a:buFont typeface="Arial" panose="020B0604020202020204" pitchFamily="34" charset="0"/>
              <a:buChar char="•"/>
            </a:pPr>
            <a:r>
              <a:rPr lang="en-US" dirty="0"/>
              <a:t>Generated 3D models of landmarks and ancient environments based on historical data.</a:t>
            </a:r>
          </a:p>
          <a:p>
            <a:pPr>
              <a:buFont typeface="Arial" panose="020B0604020202020204" pitchFamily="34" charset="0"/>
              <a:buChar char="•"/>
            </a:pPr>
            <a:r>
              <a:rPr lang="en-US" dirty="0"/>
              <a:t>Incorporated </a:t>
            </a:r>
            <a:r>
              <a:rPr lang="en-US" b="1" dirty="0"/>
              <a:t>AI-based reconstruction techniques</a:t>
            </a:r>
            <a:r>
              <a:rPr lang="en-US" dirty="0"/>
              <a:t> to restore lost or destroyed structures visually.</a:t>
            </a:r>
          </a:p>
          <a:p>
            <a:pPr>
              <a:buFont typeface="Arial" panose="020B0604020202020204" pitchFamily="34" charset="0"/>
              <a:buChar char="•"/>
            </a:pPr>
            <a:r>
              <a:rPr lang="en-US" dirty="0"/>
              <a:t>Ensured models are lightweight and optimized for web performance.</a:t>
            </a:r>
          </a:p>
          <a:p>
            <a:pPr>
              <a:buNone/>
            </a:pPr>
            <a:r>
              <a:rPr lang="en-US" b="1" dirty="0"/>
              <a:t>6. 3D Asset &amp; Scene Development</a:t>
            </a:r>
          </a:p>
          <a:p>
            <a:pPr>
              <a:buFont typeface="Arial" panose="020B0604020202020204" pitchFamily="34" charset="0"/>
              <a:buChar char="•"/>
            </a:pPr>
            <a:r>
              <a:rPr lang="en-US" dirty="0"/>
              <a:t>Generated 3D models of landmarks and ancient environments based on historical data.</a:t>
            </a:r>
          </a:p>
          <a:p>
            <a:pPr>
              <a:buFont typeface="Arial" panose="020B0604020202020204" pitchFamily="34" charset="0"/>
              <a:buChar char="•"/>
            </a:pPr>
            <a:r>
              <a:rPr lang="en-US" dirty="0"/>
              <a:t>Incorporated </a:t>
            </a:r>
            <a:r>
              <a:rPr lang="en-US" b="1" dirty="0"/>
              <a:t>AI-based reconstruction techniques</a:t>
            </a:r>
            <a:r>
              <a:rPr lang="en-US" dirty="0"/>
              <a:t> to restore lost or destroyed structures visually.</a:t>
            </a:r>
          </a:p>
          <a:p>
            <a:pPr>
              <a:buFont typeface="Arial" panose="020B0604020202020204" pitchFamily="34" charset="0"/>
              <a:buChar char="•"/>
            </a:pPr>
            <a:r>
              <a:rPr lang="en-US" dirty="0"/>
              <a:t>Ensured models are lightweight and optimized for web performance.</a:t>
            </a:r>
          </a:p>
          <a:p>
            <a:pPr marL="0" indent="0">
              <a:buNone/>
            </a:pPr>
            <a:endParaRPr lang="en-US" dirty="0"/>
          </a:p>
        </p:txBody>
      </p:sp>
      <p:sp>
        <p:nvSpPr>
          <p:cNvPr id="4" name="Slide Number Placeholder 3">
            <a:extLst>
              <a:ext uri="{FF2B5EF4-FFF2-40B4-BE49-F238E27FC236}">
                <a16:creationId xmlns:a16="http://schemas.microsoft.com/office/drawing/2014/main" id="{D9D874CB-CFBE-455B-A4F6-04B35536013E}"/>
              </a:ext>
            </a:extLst>
          </p:cNvPr>
          <p:cNvSpPr>
            <a:spLocks noGrp="1"/>
          </p:cNvSpPr>
          <p:nvPr>
            <p:ph type="sldNum" sz="quarter" idx="12"/>
          </p:nvPr>
        </p:nvSpPr>
        <p:spPr/>
        <p:txBody>
          <a:bodyPr/>
          <a:lstStyle/>
          <a:p>
            <a:fld id="{A575ECA5-96F4-415B-9B7B-F5BEE4B08E09}" type="slidenum">
              <a:rPr lang="en-IN" smtClean="0"/>
              <a:pPr/>
              <a:t>5</a:t>
            </a:fld>
            <a:endParaRPr lang="en-IN" dirty="0"/>
          </a:p>
        </p:txBody>
      </p:sp>
    </p:spTree>
    <p:extLst>
      <p:ext uri="{BB962C8B-B14F-4D97-AF65-F5344CB8AC3E}">
        <p14:creationId xmlns:p14="http://schemas.microsoft.com/office/powerpoint/2010/main" val="1123350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022F2-5657-5083-E11B-DFC87EA03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28EE8-F390-223E-E72F-A10376108D3B}"/>
              </a:ext>
            </a:extLst>
          </p:cNvPr>
          <p:cNvSpPr>
            <a:spLocks noGrp="1"/>
          </p:cNvSpPr>
          <p:nvPr>
            <p:ph type="title"/>
          </p:nvPr>
        </p:nvSpPr>
        <p:spPr>
          <a:xfrm>
            <a:off x="1722068" y="293566"/>
            <a:ext cx="8911687" cy="1280890"/>
          </a:xfrm>
        </p:spPr>
        <p:txBody>
          <a:bodyPr>
            <a:normAutofit/>
          </a:bodyPr>
          <a:lstStyle/>
          <a:p>
            <a:pPr marL="0" indent="0"/>
            <a:r>
              <a:rPr lang="en-US" sz="2800" b="1" dirty="0"/>
              <a:t>2. Implementation Approach</a:t>
            </a:r>
            <a:br>
              <a:rPr lang="en-US" sz="2800" dirty="0"/>
            </a:br>
            <a:r>
              <a:rPr lang="en-US" sz="2800" dirty="0"/>
              <a:t>2.1 Introduction to Languages, IDEs Tools and Technologies</a:t>
            </a:r>
            <a:endParaRPr lang="en-IN" sz="2800" dirty="0"/>
          </a:p>
        </p:txBody>
      </p:sp>
      <p:sp>
        <p:nvSpPr>
          <p:cNvPr id="3" name="Content Placeholder 2">
            <a:extLst>
              <a:ext uri="{FF2B5EF4-FFF2-40B4-BE49-F238E27FC236}">
                <a16:creationId xmlns:a16="http://schemas.microsoft.com/office/drawing/2014/main" id="{AE7252E7-1048-9CDE-7B53-437A0B3400B0}"/>
              </a:ext>
            </a:extLst>
          </p:cNvPr>
          <p:cNvSpPr>
            <a:spLocks noGrp="1"/>
          </p:cNvSpPr>
          <p:nvPr>
            <p:ph idx="1"/>
          </p:nvPr>
        </p:nvSpPr>
        <p:spPr>
          <a:xfrm>
            <a:off x="1368869" y="1391051"/>
            <a:ext cx="9940245" cy="4947104"/>
          </a:xfrm>
        </p:spPr>
        <p:txBody>
          <a:bodyPr>
            <a:normAutofit/>
          </a:bodyPr>
          <a:lstStyle/>
          <a:p>
            <a:r>
              <a:rPr lang="en-GB" sz="2000" b="1" dirty="0"/>
              <a:t>Languages</a:t>
            </a:r>
            <a:r>
              <a:rPr lang="en-GB" sz="1800" b="1" dirty="0"/>
              <a:t> Used</a:t>
            </a:r>
            <a:r>
              <a:rPr lang="en-GB" sz="1800" dirty="0"/>
              <a:t>:</a:t>
            </a:r>
          </a:p>
          <a:p>
            <a:pPr>
              <a:buFont typeface="Arial" panose="020B0604020202020204" pitchFamily="34" charset="0"/>
              <a:buChar char="•"/>
            </a:pPr>
            <a:r>
              <a:rPr lang="en-US" sz="1600" b="1" dirty="0"/>
              <a:t>TypeScript</a:t>
            </a:r>
            <a:r>
              <a:rPr lang="en-US" sz="1600" dirty="0"/>
              <a:t>: Used extensively on both the front-end (React) and backend (Node.js/Express) for type-safe development, reducing runtime errors and improving maintainability.</a:t>
            </a:r>
          </a:p>
          <a:p>
            <a:pPr>
              <a:buFont typeface="Arial" panose="020B0604020202020204" pitchFamily="34" charset="0"/>
              <a:buChar char="•"/>
            </a:pPr>
            <a:r>
              <a:rPr lang="en-US" sz="1600" b="1" dirty="0"/>
              <a:t>JavaScript</a:t>
            </a:r>
            <a:r>
              <a:rPr lang="en-US" sz="1600" dirty="0"/>
              <a:t>: Utilized within libraries like Three.js and Leaflet for dynamic interactions and 3D rendering.</a:t>
            </a:r>
          </a:p>
          <a:p>
            <a:pPr>
              <a:buFont typeface="Arial" panose="020B0604020202020204" pitchFamily="34" charset="0"/>
              <a:buChar char="•"/>
            </a:pPr>
            <a:r>
              <a:rPr lang="en-US" sz="1600" b="1" dirty="0"/>
              <a:t>HTML/CSS</a:t>
            </a:r>
            <a:r>
              <a:rPr lang="en-US" sz="1600" dirty="0"/>
              <a:t>: For structure and base styling, with modern enhancements using </a:t>
            </a:r>
            <a:r>
              <a:rPr lang="en-US" sz="1600" dirty="0" err="1"/>
              <a:t>TailwindCSS</a:t>
            </a:r>
            <a:r>
              <a:rPr lang="en-US" sz="1600" dirty="0"/>
              <a:t> and </a:t>
            </a:r>
            <a:r>
              <a:rPr lang="en-US" sz="1600" dirty="0" err="1"/>
              <a:t>PostCSS</a:t>
            </a:r>
            <a:r>
              <a:rPr lang="en-US" sz="1600" dirty="0"/>
              <a:t>.</a:t>
            </a:r>
          </a:p>
          <a:p>
            <a:r>
              <a:rPr lang="en-IN" sz="1800" b="1" dirty="0"/>
              <a:t>IDEs and Development Environments:</a:t>
            </a:r>
          </a:p>
          <a:p>
            <a:pPr>
              <a:buFont typeface="Arial" panose="020B0604020202020204" pitchFamily="34" charset="0"/>
              <a:buChar char="•"/>
            </a:pPr>
            <a:r>
              <a:rPr lang="en-IN" sz="1600" b="1" dirty="0"/>
              <a:t>Visual Studio Code (VS Code)</a:t>
            </a:r>
            <a:r>
              <a:rPr lang="en-IN" sz="1600" dirty="0"/>
              <a:t>: The primary development environment used for writing, debugging, and managing TypeScript, JavaScript, and styling files. VS Code’s extensions support efficient web development workflows.</a:t>
            </a:r>
          </a:p>
          <a:p>
            <a:pPr>
              <a:buFont typeface="Arial" panose="020B0604020202020204" pitchFamily="34" charset="0"/>
              <a:buChar char="•"/>
            </a:pPr>
            <a:r>
              <a:rPr lang="en-IN" sz="1600" b="1" dirty="0"/>
              <a:t>Chrome </a:t>
            </a:r>
            <a:r>
              <a:rPr lang="en-IN" sz="1600" b="1" dirty="0" err="1"/>
              <a:t>DevTools</a:t>
            </a:r>
            <a:r>
              <a:rPr lang="en-IN" sz="1600" dirty="0"/>
              <a:t>: </a:t>
            </a:r>
            <a:r>
              <a:rPr lang="en-US" sz="1600" dirty="0"/>
              <a:t>For in-browser testing, responsive design checking, and performance optimization.</a:t>
            </a:r>
            <a:endParaRPr lang="en-IN" b="1" dirty="0"/>
          </a:p>
          <a:p>
            <a:r>
              <a:rPr lang="en-IN" sz="1800" b="1" dirty="0"/>
              <a:t>Development Tools and Utilities:</a:t>
            </a:r>
            <a:endParaRPr lang="en-GB" sz="1800" dirty="0"/>
          </a:p>
          <a:p>
            <a:pPr>
              <a:buFont typeface="Arial" panose="020B0604020202020204" pitchFamily="34" charset="0"/>
              <a:buChar char="•"/>
            </a:pPr>
            <a:r>
              <a:rPr lang="en-IN" sz="1600" b="1" dirty="0"/>
              <a:t>TypeScript</a:t>
            </a:r>
            <a:r>
              <a:rPr lang="en-IN" sz="1600" dirty="0"/>
              <a:t>: Brings static typing to JavaScript, allowing safer code and better IDE support.</a:t>
            </a:r>
          </a:p>
          <a:p>
            <a:pPr>
              <a:buFont typeface="Arial" panose="020B0604020202020204" pitchFamily="34" charset="0"/>
              <a:buChar char="•"/>
            </a:pPr>
            <a:r>
              <a:rPr lang="en-IN" sz="1600" b="1" dirty="0"/>
              <a:t>TSX</a:t>
            </a:r>
            <a:r>
              <a:rPr lang="en-IN" sz="1600" dirty="0"/>
              <a:t>: Allows direct execution of TypeScript files during development for quick prototyping.</a:t>
            </a:r>
          </a:p>
          <a:p>
            <a:pPr>
              <a:buFont typeface="Arial" panose="020B0604020202020204" pitchFamily="34" charset="0"/>
              <a:buChar char="•"/>
            </a:pPr>
            <a:r>
              <a:rPr lang="en-IN" sz="1600" b="1" dirty="0"/>
              <a:t>PostCSS</a:t>
            </a:r>
            <a:r>
              <a:rPr lang="en-IN" sz="1600" dirty="0"/>
              <a:t>: Processes CSS with plugins for better performance and enhanced compatibility.</a:t>
            </a:r>
          </a:p>
        </p:txBody>
      </p:sp>
      <p:sp>
        <p:nvSpPr>
          <p:cNvPr id="4" name="Slide Number Placeholder 3">
            <a:extLst>
              <a:ext uri="{FF2B5EF4-FFF2-40B4-BE49-F238E27FC236}">
                <a16:creationId xmlns:a16="http://schemas.microsoft.com/office/drawing/2014/main" id="{E28855BA-9769-413D-8695-ABA7C85D8854}"/>
              </a:ext>
            </a:extLst>
          </p:cNvPr>
          <p:cNvSpPr>
            <a:spLocks noGrp="1"/>
          </p:cNvSpPr>
          <p:nvPr>
            <p:ph type="sldNum" sz="quarter" idx="12"/>
          </p:nvPr>
        </p:nvSpPr>
        <p:spPr/>
        <p:txBody>
          <a:bodyPr/>
          <a:lstStyle/>
          <a:p>
            <a:fld id="{A575ECA5-96F4-415B-9B7B-F5BEE4B08E09}" type="slidenum">
              <a:rPr lang="en-IN" smtClean="0"/>
              <a:pPr/>
              <a:t>6</a:t>
            </a:fld>
            <a:endParaRPr lang="en-IN" dirty="0"/>
          </a:p>
        </p:txBody>
      </p:sp>
    </p:spTree>
    <p:extLst>
      <p:ext uri="{BB962C8B-B14F-4D97-AF65-F5344CB8AC3E}">
        <p14:creationId xmlns:p14="http://schemas.microsoft.com/office/powerpoint/2010/main" val="3645510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75E95-EE78-76D0-97B6-06B692A2D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04913-0E54-69F1-CE2C-7AA111605C5B}"/>
              </a:ext>
            </a:extLst>
          </p:cNvPr>
          <p:cNvSpPr>
            <a:spLocks noGrp="1"/>
          </p:cNvSpPr>
          <p:nvPr>
            <p:ph type="title"/>
          </p:nvPr>
        </p:nvSpPr>
        <p:spPr>
          <a:xfrm>
            <a:off x="1722068" y="293566"/>
            <a:ext cx="8911687" cy="1280890"/>
          </a:xfrm>
        </p:spPr>
        <p:txBody>
          <a:bodyPr>
            <a:normAutofit fontScale="90000"/>
          </a:bodyPr>
          <a:lstStyle/>
          <a:p>
            <a:pPr marL="0" indent="0"/>
            <a:r>
              <a:rPr lang="en-US" sz="2800" b="1" dirty="0"/>
              <a:t>3. Testing Approaches</a:t>
            </a:r>
            <a:br>
              <a:rPr lang="en-US" sz="2800" dirty="0"/>
            </a:br>
            <a:r>
              <a:rPr lang="en-US" sz="2800" dirty="0"/>
              <a:t>3.1 Unit Testing</a:t>
            </a:r>
            <a:br>
              <a:rPr lang="en-US" sz="2800" dirty="0"/>
            </a:br>
            <a:r>
              <a:rPr lang="en-US" sz="2800" dirty="0"/>
              <a:t>a. Test Cases</a:t>
            </a:r>
            <a:br>
              <a:rPr lang="en-US" sz="2800" dirty="0"/>
            </a:br>
            <a:endParaRPr lang="en-IN" sz="2800" dirty="0"/>
          </a:p>
        </p:txBody>
      </p:sp>
      <p:sp>
        <p:nvSpPr>
          <p:cNvPr id="3" name="Content Placeholder 2">
            <a:extLst>
              <a:ext uri="{FF2B5EF4-FFF2-40B4-BE49-F238E27FC236}">
                <a16:creationId xmlns:a16="http://schemas.microsoft.com/office/drawing/2014/main" id="{B31BDE5B-CED8-1E6F-5CBB-85774901C808}"/>
              </a:ext>
            </a:extLst>
          </p:cNvPr>
          <p:cNvSpPr>
            <a:spLocks noGrp="1"/>
          </p:cNvSpPr>
          <p:nvPr>
            <p:ph idx="1"/>
          </p:nvPr>
        </p:nvSpPr>
        <p:spPr>
          <a:xfrm>
            <a:off x="1281784" y="1652308"/>
            <a:ext cx="9940245" cy="4912126"/>
          </a:xfrm>
        </p:spPr>
        <p:txBody>
          <a:bodyPr>
            <a:normAutofit/>
          </a:bodyPr>
          <a:lstStyle/>
          <a:p>
            <a:pPr marL="0" indent="0">
              <a:buNone/>
            </a:pPr>
            <a:endParaRPr lang="en-GB" dirty="0"/>
          </a:p>
          <a:p>
            <a:endParaRPr lang="en-IN" dirty="0"/>
          </a:p>
        </p:txBody>
      </p:sp>
      <p:sp>
        <p:nvSpPr>
          <p:cNvPr id="4" name="Slide Number Placeholder 3">
            <a:extLst>
              <a:ext uri="{FF2B5EF4-FFF2-40B4-BE49-F238E27FC236}">
                <a16:creationId xmlns:a16="http://schemas.microsoft.com/office/drawing/2014/main" id="{B039AB8A-9059-0EF0-3218-898C60DFD776}"/>
              </a:ext>
            </a:extLst>
          </p:cNvPr>
          <p:cNvSpPr>
            <a:spLocks noGrp="1"/>
          </p:cNvSpPr>
          <p:nvPr>
            <p:ph type="sldNum" sz="quarter" idx="12"/>
          </p:nvPr>
        </p:nvSpPr>
        <p:spPr/>
        <p:txBody>
          <a:bodyPr/>
          <a:lstStyle/>
          <a:p>
            <a:fld id="{A575ECA5-96F4-415B-9B7B-F5BEE4B08E09}" type="slidenum">
              <a:rPr lang="en-IN" smtClean="0"/>
              <a:pPr/>
              <a:t>7</a:t>
            </a:fld>
            <a:endParaRPr lang="en-IN" dirty="0"/>
          </a:p>
        </p:txBody>
      </p:sp>
      <p:graphicFrame>
        <p:nvGraphicFramePr>
          <p:cNvPr id="5" name="Table 4">
            <a:extLst>
              <a:ext uri="{FF2B5EF4-FFF2-40B4-BE49-F238E27FC236}">
                <a16:creationId xmlns:a16="http://schemas.microsoft.com/office/drawing/2014/main" id="{25471635-0C05-44A7-08C9-B80044C5950D}"/>
              </a:ext>
            </a:extLst>
          </p:cNvPr>
          <p:cNvGraphicFramePr>
            <a:graphicFrameLocks noGrp="1"/>
          </p:cNvGraphicFramePr>
          <p:nvPr>
            <p:extLst>
              <p:ext uri="{D42A27DB-BD31-4B8C-83A1-F6EECF244321}">
                <p14:modId xmlns:p14="http://schemas.microsoft.com/office/powerpoint/2010/main" val="1795325636"/>
              </p:ext>
            </p:extLst>
          </p:nvPr>
        </p:nvGraphicFramePr>
        <p:xfrm>
          <a:off x="1939636" y="1739490"/>
          <a:ext cx="8694120" cy="4963789"/>
        </p:xfrm>
        <a:graphic>
          <a:graphicData uri="http://schemas.openxmlformats.org/drawingml/2006/table">
            <a:tbl>
              <a:tblPr>
                <a:tableStyleId>{2D5ABB26-0587-4C30-8999-92F81FD0307C}</a:tableStyleId>
              </a:tblPr>
              <a:tblGrid>
                <a:gridCol w="2898040">
                  <a:extLst>
                    <a:ext uri="{9D8B030D-6E8A-4147-A177-3AD203B41FA5}">
                      <a16:colId xmlns:a16="http://schemas.microsoft.com/office/drawing/2014/main" val="878293604"/>
                    </a:ext>
                  </a:extLst>
                </a:gridCol>
                <a:gridCol w="2898040">
                  <a:extLst>
                    <a:ext uri="{9D8B030D-6E8A-4147-A177-3AD203B41FA5}">
                      <a16:colId xmlns:a16="http://schemas.microsoft.com/office/drawing/2014/main" val="1799143331"/>
                    </a:ext>
                  </a:extLst>
                </a:gridCol>
                <a:gridCol w="2898040">
                  <a:extLst>
                    <a:ext uri="{9D8B030D-6E8A-4147-A177-3AD203B41FA5}">
                      <a16:colId xmlns:a16="http://schemas.microsoft.com/office/drawing/2014/main" val="150900042"/>
                    </a:ext>
                  </a:extLst>
                </a:gridCol>
              </a:tblGrid>
              <a:tr h="255392">
                <a:tc>
                  <a:txBody>
                    <a:bodyPr/>
                    <a:lstStyle/>
                    <a:p>
                      <a:r>
                        <a:rPr lang="en-IN" sz="1000" b="1"/>
                        <a:t>Test Case</a:t>
                      </a:r>
                      <a:endParaRPr lang="en-IN" sz="1000"/>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a:t>Objective</a:t>
                      </a:r>
                      <a:endParaRPr lang="en-IN" sz="1000"/>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a:t>Expected Outcome</a:t>
                      </a:r>
                      <a:endParaRPr lang="en-IN" sz="1000"/>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8909276"/>
                  </a:ext>
                </a:extLst>
              </a:tr>
              <a:tr h="617297">
                <a:tc>
                  <a:txBody>
                    <a:bodyPr/>
                    <a:lstStyle/>
                    <a:p>
                      <a:r>
                        <a:rPr lang="en-IN" sz="1000"/>
                        <a:t>Render Time Travel Scene</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Test if 3D scene renders based on selected event</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Correct 3D scene is displayed</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7114657"/>
                  </a:ext>
                </a:extLst>
              </a:tr>
              <a:tr h="432107">
                <a:tc>
                  <a:txBody>
                    <a:bodyPr/>
                    <a:lstStyle/>
                    <a:p>
                      <a:r>
                        <a:rPr lang="en-IN" sz="1000"/>
                        <a:t>Click Map Marker</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Verify marker interaction and data fetch</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Popup shows accurate historical info</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943333"/>
                  </a:ext>
                </a:extLst>
              </a:tr>
              <a:tr h="449054">
                <a:tc>
                  <a:txBody>
                    <a:bodyPr/>
                    <a:lstStyle/>
                    <a:p>
                      <a:r>
                        <a:rPr lang="en-IN" sz="1000"/>
                        <a:t>AI Avatar Interaction</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Test AI chat response to user input</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Avatar replies with relevant historical details</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077144"/>
                  </a:ext>
                </a:extLst>
              </a:tr>
              <a:tr h="432107">
                <a:tc>
                  <a:txBody>
                    <a:bodyPr/>
                    <a:lstStyle/>
                    <a:p>
                      <a:r>
                        <a:rPr lang="en-IN" sz="1000"/>
                        <a:t>Page Navigation</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Ensure correct routing between pages</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Target page loads and URL updates</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9003913"/>
                  </a:ext>
                </a:extLst>
              </a:tr>
              <a:tr h="432107">
                <a:tc>
                  <a:txBody>
                    <a:bodyPr/>
                    <a:lstStyle/>
                    <a:p>
                      <a:r>
                        <a:rPr lang="en-IN" sz="1000"/>
                        <a:t>Fetch Historical Data (API)</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Test API call and data rendering</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Data is displayed without error</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559089"/>
                  </a:ext>
                </a:extLst>
              </a:tr>
              <a:tr h="432107">
                <a:tc>
                  <a:txBody>
                    <a:bodyPr/>
                    <a:lstStyle/>
                    <a:p>
                      <a:r>
                        <a:rPr lang="en-IN" sz="1000"/>
                        <a:t>Update Global State</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Check state changes via user interaction</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UI updates with new time/location</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8973781"/>
                  </a:ext>
                </a:extLst>
              </a:tr>
              <a:tr h="432107">
                <a:tc>
                  <a:txBody>
                    <a:bodyPr/>
                    <a:lstStyle/>
                    <a:p>
                      <a:r>
                        <a:rPr lang="en-IN" sz="1000"/>
                        <a:t>User Login</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Validate session creation after login</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Session is established and retained</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0044344"/>
                  </a:ext>
                </a:extLst>
              </a:tr>
              <a:tr h="432107">
                <a:tc>
                  <a:txBody>
                    <a:bodyPr/>
                    <a:lstStyle/>
                    <a:p>
                      <a:r>
                        <a:rPr lang="en-IN" sz="1000"/>
                        <a:t>Load 3D Asset</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Confirm model loads properly</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3D asset appears within acceptable time</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2966299"/>
                  </a:ext>
                </a:extLst>
              </a:tr>
              <a:tr h="432107">
                <a:tc>
                  <a:txBody>
                    <a:bodyPr/>
                    <a:lstStyle/>
                    <a:p>
                      <a:r>
                        <a:rPr lang="en-IN" sz="1000"/>
                        <a:t>Trigger Entry Animation</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Test animation on new scene load</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Animation plays as expected</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3680891"/>
                  </a:ext>
                </a:extLst>
              </a:tr>
              <a:tr h="617297">
                <a:tc>
                  <a:txBody>
                    <a:bodyPr/>
                    <a:lstStyle/>
                    <a:p>
                      <a:r>
                        <a:rPr lang="en-IN" sz="1000"/>
                        <a:t>Display Learning Path</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Test personalized content rendering</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t>AI-based suggestions appear based on user history</a:t>
                      </a:r>
                    </a:p>
                  </a:txBody>
                  <a:tcPr marL="48577" marR="48577"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4596946"/>
                  </a:ext>
                </a:extLst>
              </a:tr>
            </a:tbl>
          </a:graphicData>
        </a:graphic>
      </p:graphicFrame>
    </p:spTree>
    <p:extLst>
      <p:ext uri="{BB962C8B-B14F-4D97-AF65-F5344CB8AC3E}">
        <p14:creationId xmlns:p14="http://schemas.microsoft.com/office/powerpoint/2010/main" val="217155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FE62F-8131-2BD4-2976-92D31E00C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411962-19C4-C5A8-DE69-D5BBFD2A8B0E}"/>
              </a:ext>
            </a:extLst>
          </p:cNvPr>
          <p:cNvSpPr>
            <a:spLocks noGrp="1"/>
          </p:cNvSpPr>
          <p:nvPr>
            <p:ph type="title"/>
          </p:nvPr>
        </p:nvSpPr>
        <p:spPr>
          <a:xfrm>
            <a:off x="1722068" y="293566"/>
            <a:ext cx="8911687" cy="903863"/>
          </a:xfrm>
        </p:spPr>
        <p:txBody>
          <a:bodyPr>
            <a:normAutofit fontScale="90000"/>
          </a:bodyPr>
          <a:lstStyle/>
          <a:p>
            <a:pPr marL="0" indent="0">
              <a:buNone/>
            </a:pPr>
            <a:r>
              <a:rPr lang="en-US" sz="2800" b="1" dirty="0"/>
              <a:t>3.2 Integration Testing</a:t>
            </a:r>
            <a:br>
              <a:rPr lang="en-US" sz="2800" dirty="0"/>
            </a:br>
            <a:r>
              <a:rPr lang="en-US" sz="2800" dirty="0"/>
              <a:t>b. Test Cases</a:t>
            </a:r>
            <a:br>
              <a:rPr lang="en-US" sz="2800" dirty="0"/>
            </a:br>
            <a:br>
              <a:rPr lang="en-US" sz="2800" dirty="0"/>
            </a:br>
            <a:endParaRPr lang="en-IN" sz="2800" dirty="0"/>
          </a:p>
        </p:txBody>
      </p:sp>
      <p:sp>
        <p:nvSpPr>
          <p:cNvPr id="4" name="Slide Number Placeholder 3">
            <a:extLst>
              <a:ext uri="{FF2B5EF4-FFF2-40B4-BE49-F238E27FC236}">
                <a16:creationId xmlns:a16="http://schemas.microsoft.com/office/drawing/2014/main" id="{DE501408-8F52-2D87-124A-77903ECBB5C2}"/>
              </a:ext>
            </a:extLst>
          </p:cNvPr>
          <p:cNvSpPr>
            <a:spLocks noGrp="1"/>
          </p:cNvSpPr>
          <p:nvPr>
            <p:ph type="sldNum" sz="quarter" idx="12"/>
          </p:nvPr>
        </p:nvSpPr>
        <p:spPr/>
        <p:txBody>
          <a:bodyPr/>
          <a:lstStyle/>
          <a:p>
            <a:fld id="{A575ECA5-96F4-415B-9B7B-F5BEE4B08E09}" type="slidenum">
              <a:rPr lang="en-IN" smtClean="0"/>
              <a:pPr/>
              <a:t>8</a:t>
            </a:fld>
            <a:endParaRPr lang="en-IN" dirty="0"/>
          </a:p>
        </p:txBody>
      </p:sp>
      <p:graphicFrame>
        <p:nvGraphicFramePr>
          <p:cNvPr id="7" name="Content Placeholder 6">
            <a:extLst>
              <a:ext uri="{FF2B5EF4-FFF2-40B4-BE49-F238E27FC236}">
                <a16:creationId xmlns:a16="http://schemas.microsoft.com/office/drawing/2014/main" id="{C458E60F-EFF7-FFD3-D941-C2615EA37932}"/>
              </a:ext>
            </a:extLst>
          </p:cNvPr>
          <p:cNvGraphicFramePr>
            <a:graphicFrameLocks noGrp="1"/>
          </p:cNvGraphicFramePr>
          <p:nvPr>
            <p:ph idx="1"/>
            <p:extLst>
              <p:ext uri="{D42A27DB-BD31-4B8C-83A1-F6EECF244321}">
                <p14:modId xmlns:p14="http://schemas.microsoft.com/office/powerpoint/2010/main" val="3811303492"/>
              </p:ext>
            </p:extLst>
          </p:nvPr>
        </p:nvGraphicFramePr>
        <p:xfrm>
          <a:off x="2143760" y="1290320"/>
          <a:ext cx="8331201" cy="5412960"/>
        </p:xfrm>
        <a:graphic>
          <a:graphicData uri="http://schemas.openxmlformats.org/drawingml/2006/table">
            <a:tbl>
              <a:tblPr/>
              <a:tblGrid>
                <a:gridCol w="2777067">
                  <a:extLst>
                    <a:ext uri="{9D8B030D-6E8A-4147-A177-3AD203B41FA5}">
                      <a16:colId xmlns:a16="http://schemas.microsoft.com/office/drawing/2014/main" val="2731850179"/>
                    </a:ext>
                  </a:extLst>
                </a:gridCol>
                <a:gridCol w="2777067">
                  <a:extLst>
                    <a:ext uri="{9D8B030D-6E8A-4147-A177-3AD203B41FA5}">
                      <a16:colId xmlns:a16="http://schemas.microsoft.com/office/drawing/2014/main" val="1031571091"/>
                    </a:ext>
                  </a:extLst>
                </a:gridCol>
                <a:gridCol w="2777067">
                  <a:extLst>
                    <a:ext uri="{9D8B030D-6E8A-4147-A177-3AD203B41FA5}">
                      <a16:colId xmlns:a16="http://schemas.microsoft.com/office/drawing/2014/main" val="2323849116"/>
                    </a:ext>
                  </a:extLst>
                </a:gridCol>
              </a:tblGrid>
              <a:tr h="212814">
                <a:tc>
                  <a:txBody>
                    <a:bodyPr/>
                    <a:lstStyle/>
                    <a:p>
                      <a:r>
                        <a:rPr lang="en-IN" sz="800" b="1"/>
                        <a:t>Test Case</a:t>
                      </a:r>
                      <a:endParaRPr lang="en-IN" sz="800"/>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800" b="1"/>
                        <a:t>Objective</a:t>
                      </a:r>
                      <a:endParaRPr lang="en-IN" sz="800"/>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800" b="1"/>
                        <a:t>Expected Outcome</a:t>
                      </a:r>
                      <a:endParaRPr lang="en-IN" sz="800"/>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0752835"/>
                  </a:ext>
                </a:extLst>
              </a:tr>
              <a:tr h="536183">
                <a:tc>
                  <a:txBody>
                    <a:bodyPr/>
                    <a:lstStyle/>
                    <a:p>
                      <a:r>
                        <a:rPr lang="en-IN" sz="800"/>
                        <a:t>Map to Scene Integration</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Verify that selecting a map marker loads the correct 3D scene</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Corresponding historical scene is rendered on selection</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3065299"/>
                  </a:ext>
                </a:extLst>
              </a:tr>
              <a:tr h="536183">
                <a:tc>
                  <a:txBody>
                    <a:bodyPr/>
                    <a:lstStyle/>
                    <a:p>
                      <a:r>
                        <a:rPr lang="en-US" sz="800"/>
                        <a:t>User Login to Personalized Dashboard</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Test login flow and personalized content rendering</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User is logged in and sees tailored learning paths</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3244588"/>
                  </a:ext>
                </a:extLst>
              </a:tr>
              <a:tr h="536183">
                <a:tc>
                  <a:txBody>
                    <a:bodyPr/>
                    <a:lstStyle/>
                    <a:p>
                      <a:r>
                        <a:rPr lang="it-IT" sz="800"/>
                        <a:t>AI Avatar with Scene Context</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800"/>
                        <a:t>Test AI avatar response based on current 3D environment</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Avatar gives scene-specific historical insights</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79864"/>
                  </a:ext>
                </a:extLst>
              </a:tr>
              <a:tr h="536183">
                <a:tc>
                  <a:txBody>
                    <a:bodyPr/>
                    <a:lstStyle/>
                    <a:p>
                      <a:r>
                        <a:rPr lang="en-IN" sz="800"/>
                        <a:t>API + 3D Model Load</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Verify data fetch and model rendering together</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Scene loads with accurate data and 3D visuals</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4001431"/>
                  </a:ext>
                </a:extLst>
              </a:tr>
              <a:tr h="374499">
                <a:tc>
                  <a:txBody>
                    <a:bodyPr/>
                    <a:lstStyle/>
                    <a:p>
                      <a:r>
                        <a:rPr lang="en-IN" sz="800"/>
                        <a:t>Session Persistence + Routing</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Test session retention during navigation</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User remains logged in across different pages</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3974394"/>
                  </a:ext>
                </a:extLst>
              </a:tr>
              <a:tr h="536183">
                <a:tc>
                  <a:txBody>
                    <a:bodyPr/>
                    <a:lstStyle/>
                    <a:p>
                      <a:r>
                        <a:rPr lang="en-US" sz="800"/>
                        <a:t>Time Travel Selection + Animation Trigger</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t>Check interaction of time period selection and animation</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Scene changes and animation plays seamlessly</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337639"/>
                  </a:ext>
                </a:extLst>
              </a:tr>
              <a:tr h="536183">
                <a:tc>
                  <a:txBody>
                    <a:bodyPr/>
                    <a:lstStyle/>
                    <a:p>
                      <a:r>
                        <a:rPr lang="en-IN" sz="800"/>
                        <a:t>Scene Interaction + State Update</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Test object interaction and UI state update</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Info panel or avatar updates as user interacts</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6324208"/>
                  </a:ext>
                </a:extLst>
              </a:tr>
              <a:tr h="536183">
                <a:tc>
                  <a:txBody>
                    <a:bodyPr/>
                    <a:lstStyle/>
                    <a:p>
                      <a:r>
                        <a:rPr lang="nn-NO" sz="800"/>
                        <a:t>Avatar Chat + Data Store Update</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800"/>
                        <a:t>Validate AI interaction modifies or logs user progress</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User’s historical journey is updated based on conversation</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390701"/>
                  </a:ext>
                </a:extLst>
              </a:tr>
              <a:tr h="536183">
                <a:tc>
                  <a:txBody>
                    <a:bodyPr/>
                    <a:lstStyle/>
                    <a:p>
                      <a:r>
                        <a:rPr lang="en-IN" sz="800"/>
                        <a:t>Map Load + Performance Metrics</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Test map component with live data and rendering performance</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Map loads accurately without lag</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4249610"/>
                  </a:ext>
                </a:extLst>
              </a:tr>
              <a:tr h="536183">
                <a:tc>
                  <a:txBody>
                    <a:bodyPr/>
                    <a:lstStyle/>
                    <a:p>
                      <a:r>
                        <a:rPr lang="en-US" sz="800"/>
                        <a:t>Backend Sync with Frontend Preferences</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t>Verify backend settings affect frontend UI (e.g., dark mode)</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t>User preferences apply across frontend after backend fetch</a:t>
                      </a:r>
                    </a:p>
                  </a:txBody>
                  <a:tcPr marL="38554" marR="38554" marT="19277" marB="19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2642557"/>
                  </a:ext>
                </a:extLst>
              </a:tr>
            </a:tbl>
          </a:graphicData>
        </a:graphic>
      </p:graphicFrame>
    </p:spTree>
    <p:extLst>
      <p:ext uri="{BB962C8B-B14F-4D97-AF65-F5344CB8AC3E}">
        <p14:creationId xmlns:p14="http://schemas.microsoft.com/office/powerpoint/2010/main" val="3311374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60A84-EF87-6944-0853-9EB881812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667D2-572D-91DE-7997-1327DCC18775}"/>
              </a:ext>
            </a:extLst>
          </p:cNvPr>
          <p:cNvSpPr>
            <a:spLocks noGrp="1"/>
          </p:cNvSpPr>
          <p:nvPr>
            <p:ph type="title"/>
          </p:nvPr>
        </p:nvSpPr>
        <p:spPr>
          <a:xfrm>
            <a:off x="1722068" y="293566"/>
            <a:ext cx="8911687" cy="1197777"/>
          </a:xfrm>
        </p:spPr>
        <p:txBody>
          <a:bodyPr>
            <a:normAutofit fontScale="90000"/>
          </a:bodyPr>
          <a:lstStyle/>
          <a:p>
            <a:pPr marL="0" indent="0">
              <a:buNone/>
            </a:pPr>
            <a:r>
              <a:rPr lang="en-IN" sz="2800" b="1" dirty="0"/>
              <a:t>4. Results &amp; Discussion</a:t>
            </a:r>
            <a:br>
              <a:rPr lang="en-IN" sz="2800" dirty="0"/>
            </a:br>
            <a:r>
              <a:rPr lang="en-IN" sz="2800" dirty="0"/>
              <a:t>4.1 User Interface Representation</a:t>
            </a:r>
            <a:br>
              <a:rPr lang="en-IN" sz="2800" dirty="0"/>
            </a:br>
            <a:r>
              <a:rPr lang="en-IN" sz="2800" dirty="0"/>
              <a:t>4.1.1 Brief Description of Various Modules</a:t>
            </a:r>
          </a:p>
        </p:txBody>
      </p:sp>
      <p:sp>
        <p:nvSpPr>
          <p:cNvPr id="4" name="Slide Number Placeholder 3">
            <a:extLst>
              <a:ext uri="{FF2B5EF4-FFF2-40B4-BE49-F238E27FC236}">
                <a16:creationId xmlns:a16="http://schemas.microsoft.com/office/drawing/2014/main" id="{1287A6DB-CDA7-9CAC-8080-EA60C8ADD64A}"/>
              </a:ext>
            </a:extLst>
          </p:cNvPr>
          <p:cNvSpPr>
            <a:spLocks noGrp="1"/>
          </p:cNvSpPr>
          <p:nvPr>
            <p:ph type="sldNum" sz="quarter" idx="12"/>
          </p:nvPr>
        </p:nvSpPr>
        <p:spPr/>
        <p:txBody>
          <a:bodyPr/>
          <a:lstStyle/>
          <a:p>
            <a:fld id="{A575ECA5-96F4-415B-9B7B-F5BEE4B08E09}" type="slidenum">
              <a:rPr lang="en-IN" smtClean="0"/>
              <a:pPr/>
              <a:t>9</a:t>
            </a:fld>
            <a:endParaRPr lang="en-IN" dirty="0"/>
          </a:p>
        </p:txBody>
      </p:sp>
      <p:graphicFrame>
        <p:nvGraphicFramePr>
          <p:cNvPr id="7" name="Content Placeholder 6">
            <a:extLst>
              <a:ext uri="{FF2B5EF4-FFF2-40B4-BE49-F238E27FC236}">
                <a16:creationId xmlns:a16="http://schemas.microsoft.com/office/drawing/2014/main" id="{22267B8D-793E-F76C-C80F-11CB27748B38}"/>
              </a:ext>
            </a:extLst>
          </p:cNvPr>
          <p:cNvGraphicFramePr>
            <a:graphicFrameLocks noGrp="1"/>
          </p:cNvGraphicFramePr>
          <p:nvPr>
            <p:ph idx="1"/>
            <p:extLst>
              <p:ext uri="{D42A27DB-BD31-4B8C-83A1-F6EECF244321}">
                <p14:modId xmlns:p14="http://schemas.microsoft.com/office/powerpoint/2010/main" val="809586210"/>
              </p:ext>
            </p:extLst>
          </p:nvPr>
        </p:nvGraphicFramePr>
        <p:xfrm>
          <a:off x="1971040" y="1656080"/>
          <a:ext cx="9250990" cy="4569764"/>
        </p:xfrm>
        <a:graphic>
          <a:graphicData uri="http://schemas.openxmlformats.org/drawingml/2006/table">
            <a:tbl>
              <a:tblPr/>
              <a:tblGrid>
                <a:gridCol w="4625495">
                  <a:extLst>
                    <a:ext uri="{9D8B030D-6E8A-4147-A177-3AD203B41FA5}">
                      <a16:colId xmlns:a16="http://schemas.microsoft.com/office/drawing/2014/main" val="249046126"/>
                    </a:ext>
                  </a:extLst>
                </a:gridCol>
                <a:gridCol w="4625495">
                  <a:extLst>
                    <a:ext uri="{9D8B030D-6E8A-4147-A177-3AD203B41FA5}">
                      <a16:colId xmlns:a16="http://schemas.microsoft.com/office/drawing/2014/main" val="581739833"/>
                    </a:ext>
                  </a:extLst>
                </a:gridCol>
              </a:tblGrid>
              <a:tr h="272822">
                <a:tc>
                  <a:txBody>
                    <a:bodyPr/>
                    <a:lstStyle/>
                    <a:p>
                      <a:r>
                        <a:rPr lang="en-IN" sz="1000" b="1" dirty="0"/>
                        <a:t>Module Name</a:t>
                      </a:r>
                      <a:endParaRPr lang="en-IN" sz="1000" dirty="0"/>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000" b="1"/>
                        <a:t>Brief Description</a:t>
                      </a:r>
                      <a:endParaRPr lang="en-IN" sz="1000"/>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1758729"/>
                  </a:ext>
                </a:extLst>
              </a:tr>
              <a:tr h="477438">
                <a:tc>
                  <a:txBody>
                    <a:bodyPr/>
                    <a:lstStyle/>
                    <a:p>
                      <a:r>
                        <a:rPr lang="en-IN" sz="1000"/>
                        <a:t>User Authentication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000"/>
                        <a:t>Manages user login, registration, and session handling.</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471191"/>
                  </a:ext>
                </a:extLst>
              </a:tr>
              <a:tr h="477438">
                <a:tc>
                  <a:txBody>
                    <a:bodyPr/>
                    <a:lstStyle/>
                    <a:p>
                      <a:r>
                        <a:rPr lang="en-IN" sz="1000"/>
                        <a:t>Interactive Map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Displays global landmarks and links them to historical scenes.</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3207933"/>
                  </a:ext>
                </a:extLst>
              </a:tr>
              <a:tr h="477438">
                <a:tc>
                  <a:txBody>
                    <a:bodyPr/>
                    <a:lstStyle/>
                    <a:p>
                      <a:r>
                        <a:rPr lang="en-IN" sz="1000"/>
                        <a:t>Time Travel &amp; Scene Renderer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Renders 3D historical environments based on selected era and location.</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2600382"/>
                  </a:ext>
                </a:extLst>
              </a:tr>
              <a:tr h="477438">
                <a:tc>
                  <a:txBody>
                    <a:bodyPr/>
                    <a:lstStyle/>
                    <a:p>
                      <a:r>
                        <a:rPr lang="en-IN" sz="1000"/>
                        <a:t>AI Avatar Interaction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Allows users to chat with AI-powered historical characters.</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4288696"/>
                  </a:ext>
                </a:extLst>
              </a:tr>
              <a:tr h="477438">
                <a:tc>
                  <a:txBody>
                    <a:bodyPr/>
                    <a:lstStyle/>
                    <a:p>
                      <a:r>
                        <a:rPr lang="en-IN" sz="1000"/>
                        <a:t>Historical Content &amp; Data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Provides facts, timelines, and descriptions from the database.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443442"/>
                  </a:ext>
                </a:extLst>
              </a:tr>
              <a:tr h="477438">
                <a:tc>
                  <a:txBody>
                    <a:bodyPr/>
                    <a:lstStyle/>
                    <a:p>
                      <a:r>
                        <a:rPr lang="en-IN" sz="1000"/>
                        <a:t>3D Asset Management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Loads and optimizes 3D models for immersive viewing.</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1806696"/>
                  </a:ext>
                </a:extLst>
              </a:tr>
              <a:tr h="477438">
                <a:tc>
                  <a:txBody>
                    <a:bodyPr/>
                    <a:lstStyle/>
                    <a:p>
                      <a:r>
                        <a:rPr lang="en-IN" sz="1000"/>
                        <a:t>Personalized Learning Path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Suggests tailored historical content based on user activity.</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8731396"/>
                  </a:ext>
                </a:extLst>
              </a:tr>
              <a:tr h="477438">
                <a:tc>
                  <a:txBody>
                    <a:bodyPr/>
                    <a:lstStyle/>
                    <a:p>
                      <a:r>
                        <a:rPr lang="en-IN" sz="1000"/>
                        <a:t>Quantum History Mode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000"/>
                        <a:t>Simulates alternate historical scenarios using AI.</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575647"/>
                  </a:ext>
                </a:extLst>
              </a:tr>
              <a:tr h="477438">
                <a:tc>
                  <a:txBody>
                    <a:bodyPr/>
                    <a:lstStyle/>
                    <a:p>
                      <a:r>
                        <a:rPr lang="en-IN" sz="1000"/>
                        <a:t>UI/UX and Animation Module</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t>Enhances user experience with transitions and visual effects.</a:t>
                      </a:r>
                    </a:p>
                  </a:txBody>
                  <a:tcPr marL="51057" marR="51057" marT="25529" marB="25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923333"/>
                  </a:ext>
                </a:extLst>
              </a:tr>
            </a:tbl>
          </a:graphicData>
        </a:graphic>
      </p:graphicFrame>
    </p:spTree>
    <p:extLst>
      <p:ext uri="{BB962C8B-B14F-4D97-AF65-F5344CB8AC3E}">
        <p14:creationId xmlns:p14="http://schemas.microsoft.com/office/powerpoint/2010/main" val="621032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11DB-70EB-0D69-25D2-BE8E8AE1D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F4732-E393-9EA2-8C37-58EF0C96A232}"/>
              </a:ext>
            </a:extLst>
          </p:cNvPr>
          <p:cNvSpPr>
            <a:spLocks noGrp="1"/>
          </p:cNvSpPr>
          <p:nvPr>
            <p:ph type="title"/>
          </p:nvPr>
        </p:nvSpPr>
        <p:spPr>
          <a:xfrm>
            <a:off x="1687286" y="482596"/>
            <a:ext cx="7815943" cy="976090"/>
          </a:xfrm>
        </p:spPr>
        <p:txBody>
          <a:bodyPr>
            <a:normAutofit/>
          </a:bodyPr>
          <a:lstStyle/>
          <a:p>
            <a:pPr marL="0" indent="0">
              <a:buNone/>
            </a:pPr>
            <a:r>
              <a:rPr lang="en-IN" sz="2500" b="1" dirty="0"/>
              <a:t>4.2 Snapshot of System with Brief Description</a:t>
            </a:r>
          </a:p>
        </p:txBody>
      </p:sp>
      <p:sp>
        <p:nvSpPr>
          <p:cNvPr id="4" name="Slide Number Placeholder 3">
            <a:extLst>
              <a:ext uri="{FF2B5EF4-FFF2-40B4-BE49-F238E27FC236}">
                <a16:creationId xmlns:a16="http://schemas.microsoft.com/office/drawing/2014/main" id="{178C3E24-A956-375F-20A8-E7C10D293129}"/>
              </a:ext>
            </a:extLst>
          </p:cNvPr>
          <p:cNvSpPr>
            <a:spLocks noGrp="1"/>
          </p:cNvSpPr>
          <p:nvPr>
            <p:ph type="sldNum" sz="quarter" idx="12"/>
          </p:nvPr>
        </p:nvSpPr>
        <p:spPr/>
        <p:txBody>
          <a:bodyPr/>
          <a:lstStyle/>
          <a:p>
            <a:fld id="{A575ECA5-96F4-415B-9B7B-F5BEE4B08E09}" type="slidenum">
              <a:rPr lang="en-IN" smtClean="0"/>
              <a:pPr/>
              <a:t>10</a:t>
            </a:fld>
            <a:endParaRPr lang="en-IN" dirty="0"/>
          </a:p>
        </p:txBody>
      </p:sp>
      <p:sp>
        <p:nvSpPr>
          <p:cNvPr id="19" name="Rectangle 18">
            <a:extLst>
              <a:ext uri="{FF2B5EF4-FFF2-40B4-BE49-F238E27FC236}">
                <a16:creationId xmlns:a16="http://schemas.microsoft.com/office/drawing/2014/main" id="{F1CE61A4-6C5E-B99E-B8DF-7EDAC768EE56}"/>
              </a:ext>
            </a:extLst>
          </p:cNvPr>
          <p:cNvSpPr/>
          <p:nvPr/>
        </p:nvSpPr>
        <p:spPr>
          <a:xfrm>
            <a:off x="9503228" y="2720693"/>
            <a:ext cx="2498567" cy="21321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F5CA9528-5343-875F-36DB-9AF5C7CC0A02}"/>
              </a:ext>
            </a:extLst>
          </p:cNvPr>
          <p:cNvSpPr txBox="1"/>
          <p:nvPr/>
        </p:nvSpPr>
        <p:spPr>
          <a:xfrm>
            <a:off x="9503229" y="2821547"/>
            <a:ext cx="2656114" cy="2031325"/>
          </a:xfrm>
          <a:prstGeom prst="rect">
            <a:avLst/>
          </a:prstGeom>
          <a:noFill/>
        </p:spPr>
        <p:txBody>
          <a:bodyPr wrap="square" rtlCol="0">
            <a:spAutoFit/>
          </a:bodyPr>
          <a:lstStyle/>
          <a:p>
            <a:r>
              <a:rPr lang="en-US" dirty="0"/>
              <a:t>The image shows an interactive </a:t>
            </a:r>
            <a:r>
              <a:rPr lang="en-US" b="1" dirty="0"/>
              <a:t>Leaflet-based map interface</a:t>
            </a:r>
            <a:r>
              <a:rPr lang="en-US" dirty="0"/>
              <a:t> highlighting </a:t>
            </a:r>
            <a:r>
              <a:rPr lang="en-US" b="1" dirty="0"/>
              <a:t>monuments across India</a:t>
            </a:r>
            <a:r>
              <a:rPr lang="en-US" dirty="0"/>
              <a:t> with colored location markers.</a:t>
            </a:r>
            <a:endParaRPr lang="en-IN" dirty="0"/>
          </a:p>
        </p:txBody>
      </p:sp>
      <p:pic>
        <p:nvPicPr>
          <p:cNvPr id="7" name="Picture 6">
            <a:extLst>
              <a:ext uri="{FF2B5EF4-FFF2-40B4-BE49-F238E27FC236}">
                <a16:creationId xmlns:a16="http://schemas.microsoft.com/office/drawing/2014/main" id="{1688F3E2-B1BE-AF31-EE35-5A76271670C4}"/>
              </a:ext>
            </a:extLst>
          </p:cNvPr>
          <p:cNvPicPr>
            <a:picLocks noChangeAspect="1"/>
          </p:cNvPicPr>
          <p:nvPr/>
        </p:nvPicPr>
        <p:blipFill>
          <a:blip r:embed="rId2"/>
          <a:stretch>
            <a:fillRect/>
          </a:stretch>
        </p:blipFill>
        <p:spPr>
          <a:xfrm>
            <a:off x="1317170" y="1384522"/>
            <a:ext cx="7815943" cy="5178838"/>
          </a:xfrm>
          <a:prstGeom prst="rect">
            <a:avLst/>
          </a:prstGeom>
          <a:ln>
            <a:noFill/>
          </a:ln>
          <a:effectLst>
            <a:outerShdw blurRad="190500" algn="tl" rotWithShape="0">
              <a:srgbClr val="000000">
                <a:alpha val="70000"/>
              </a:srgbClr>
            </a:outerShdw>
          </a:effectLst>
        </p:spPr>
      </p:pic>
      <p:cxnSp>
        <p:nvCxnSpPr>
          <p:cNvPr id="15" name="Connector: Elbow 14">
            <a:extLst>
              <a:ext uri="{FF2B5EF4-FFF2-40B4-BE49-F238E27FC236}">
                <a16:creationId xmlns:a16="http://schemas.microsoft.com/office/drawing/2014/main" id="{8AE480BF-3EAD-A735-ED27-4772272913D5}"/>
              </a:ext>
            </a:extLst>
          </p:cNvPr>
          <p:cNvCxnSpPr>
            <a:cxnSpLocks/>
          </p:cNvCxnSpPr>
          <p:nvPr/>
        </p:nvCxnSpPr>
        <p:spPr>
          <a:xfrm>
            <a:off x="5313680" y="3057430"/>
            <a:ext cx="4104640" cy="976090"/>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496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96FE8-C65C-9B5C-BED2-5483E2125FAA}"/>
              </a:ext>
            </a:extLst>
          </p:cNvPr>
          <p:cNvSpPr>
            <a:spLocks noGrp="1"/>
          </p:cNvSpPr>
          <p:nvPr>
            <p:ph type="title"/>
          </p:nvPr>
        </p:nvSpPr>
        <p:spPr>
          <a:xfrm>
            <a:off x="1687286" y="154720"/>
            <a:ext cx="11299371" cy="1727204"/>
          </a:xfrm>
        </p:spPr>
        <p:txBody>
          <a:bodyPr>
            <a:normAutofit fontScale="90000"/>
          </a:bodyPr>
          <a:lstStyle/>
          <a:p>
            <a:pPr marL="0" indent="0">
              <a:buNone/>
            </a:pPr>
            <a:r>
              <a:rPr lang="en-IN" sz="2800" b="1" dirty="0"/>
              <a:t>4.3 Database Description</a:t>
            </a:r>
            <a:br>
              <a:rPr lang="en-IN" sz="2800" dirty="0"/>
            </a:br>
            <a:r>
              <a:rPr lang="en-IN" sz="2800" dirty="0"/>
              <a:t>4.3.1 Snapshot of Database Tables with Brief Description</a:t>
            </a:r>
            <a:br>
              <a:rPr lang="en-IN" sz="4000" dirty="0"/>
            </a:br>
            <a:br>
              <a:rPr lang="en-IN" sz="4000" dirty="0"/>
            </a:br>
            <a:endParaRPr lang="en-IN" dirty="0"/>
          </a:p>
        </p:txBody>
      </p:sp>
      <p:sp>
        <p:nvSpPr>
          <p:cNvPr id="4" name="Slide Number Placeholder 3">
            <a:extLst>
              <a:ext uri="{FF2B5EF4-FFF2-40B4-BE49-F238E27FC236}">
                <a16:creationId xmlns:a16="http://schemas.microsoft.com/office/drawing/2014/main" id="{7A7B4409-C997-B87A-0702-064FD79556DF}"/>
              </a:ext>
            </a:extLst>
          </p:cNvPr>
          <p:cNvSpPr>
            <a:spLocks noGrp="1"/>
          </p:cNvSpPr>
          <p:nvPr>
            <p:ph type="sldNum" sz="quarter" idx="12"/>
          </p:nvPr>
        </p:nvSpPr>
        <p:spPr/>
        <p:txBody>
          <a:bodyPr/>
          <a:lstStyle/>
          <a:p>
            <a:fld id="{A575ECA5-96F4-415B-9B7B-F5BEE4B08E09}" type="slidenum">
              <a:rPr lang="en-IN" smtClean="0"/>
              <a:pPr/>
              <a:t>11</a:t>
            </a:fld>
            <a:endParaRPr lang="en-IN" dirty="0"/>
          </a:p>
        </p:txBody>
      </p:sp>
      <p:sp>
        <p:nvSpPr>
          <p:cNvPr id="5" name="Content Placeholder 4">
            <a:extLst>
              <a:ext uri="{FF2B5EF4-FFF2-40B4-BE49-F238E27FC236}">
                <a16:creationId xmlns:a16="http://schemas.microsoft.com/office/drawing/2014/main" id="{B5845131-71D0-144E-F743-847B819E22BB}"/>
              </a:ext>
            </a:extLst>
          </p:cNvPr>
          <p:cNvSpPr>
            <a:spLocks noGrp="1"/>
          </p:cNvSpPr>
          <p:nvPr>
            <p:ph idx="1"/>
          </p:nvPr>
        </p:nvSpPr>
        <p:spPr/>
        <p:txBody>
          <a:bodyPr/>
          <a:lstStyle/>
          <a:p>
            <a:endParaRPr lang="en-IN" dirty="0"/>
          </a:p>
        </p:txBody>
      </p:sp>
      <p:pic>
        <p:nvPicPr>
          <p:cNvPr id="7" name="Content Placeholder 9">
            <a:extLst>
              <a:ext uri="{FF2B5EF4-FFF2-40B4-BE49-F238E27FC236}">
                <a16:creationId xmlns:a16="http://schemas.microsoft.com/office/drawing/2014/main" id="{CFC91EA4-E20E-ECC4-0CFD-5D6A9F3E405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l="12672" t="8448" r="13696" b="14705"/>
          <a:stretch/>
        </p:blipFill>
        <p:spPr>
          <a:xfrm>
            <a:off x="1687286" y="1018322"/>
            <a:ext cx="9001034" cy="5790894"/>
          </a:xfrm>
          <a:prstGeom prst="rect">
            <a:avLst/>
          </a:prstGeom>
        </p:spPr>
      </p:pic>
    </p:spTree>
    <p:extLst>
      <p:ext uri="{BB962C8B-B14F-4D97-AF65-F5344CB8AC3E}">
        <p14:creationId xmlns:p14="http://schemas.microsoft.com/office/powerpoint/2010/main" val="58158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3217-ED45-280E-B3B3-27D0F52A9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A8914B-D5E6-4104-EF30-CFE0BD793452}"/>
              </a:ext>
            </a:extLst>
          </p:cNvPr>
          <p:cNvSpPr>
            <a:spLocks noGrp="1"/>
          </p:cNvSpPr>
          <p:nvPr>
            <p:ph type="title"/>
          </p:nvPr>
        </p:nvSpPr>
        <p:spPr>
          <a:xfrm>
            <a:off x="1787383" y="554823"/>
            <a:ext cx="8911687" cy="762348"/>
          </a:xfrm>
        </p:spPr>
        <p:txBody>
          <a:bodyPr>
            <a:normAutofit fontScale="90000"/>
          </a:bodyPr>
          <a:lstStyle/>
          <a:p>
            <a:r>
              <a:rPr lang="en-IN" sz="2900" b="1" dirty="0"/>
              <a:t>4.4 Final Findings</a:t>
            </a:r>
            <a:br>
              <a:rPr lang="en-IN" sz="2800" dirty="0"/>
            </a:br>
            <a:endParaRPr lang="en-IN" sz="2800" dirty="0"/>
          </a:p>
        </p:txBody>
      </p:sp>
      <p:graphicFrame>
        <p:nvGraphicFramePr>
          <p:cNvPr id="7" name="Content Placeholder 6">
            <a:extLst>
              <a:ext uri="{FF2B5EF4-FFF2-40B4-BE49-F238E27FC236}">
                <a16:creationId xmlns:a16="http://schemas.microsoft.com/office/drawing/2014/main" id="{61108104-C682-7B5A-682A-BC9BBF6C5158}"/>
              </a:ext>
            </a:extLst>
          </p:cNvPr>
          <p:cNvGraphicFramePr>
            <a:graphicFrameLocks noGrp="1"/>
          </p:cNvGraphicFramePr>
          <p:nvPr>
            <p:ph idx="1"/>
            <p:extLst>
              <p:ext uri="{D42A27DB-BD31-4B8C-83A1-F6EECF244321}">
                <p14:modId xmlns:p14="http://schemas.microsoft.com/office/powerpoint/2010/main" val="1444132847"/>
              </p:ext>
            </p:extLst>
          </p:nvPr>
        </p:nvGraphicFramePr>
        <p:xfrm>
          <a:off x="2103120" y="1256488"/>
          <a:ext cx="8595950" cy="5276391"/>
        </p:xfrm>
        <a:graphic>
          <a:graphicData uri="http://schemas.openxmlformats.org/drawingml/2006/table">
            <a:tbl>
              <a:tblPr/>
              <a:tblGrid>
                <a:gridCol w="4297975">
                  <a:extLst>
                    <a:ext uri="{9D8B030D-6E8A-4147-A177-3AD203B41FA5}">
                      <a16:colId xmlns:a16="http://schemas.microsoft.com/office/drawing/2014/main" val="1230851589"/>
                    </a:ext>
                  </a:extLst>
                </a:gridCol>
                <a:gridCol w="4297975">
                  <a:extLst>
                    <a:ext uri="{9D8B030D-6E8A-4147-A177-3AD203B41FA5}">
                      <a16:colId xmlns:a16="http://schemas.microsoft.com/office/drawing/2014/main" val="789535885"/>
                    </a:ext>
                  </a:extLst>
                </a:gridCol>
              </a:tblGrid>
              <a:tr h="302441">
                <a:tc>
                  <a:txBody>
                    <a:bodyPr/>
                    <a:lstStyle/>
                    <a:p>
                      <a:r>
                        <a:rPr lang="en-IN" sz="1400" b="1" dirty="0"/>
                        <a:t>Finding</a:t>
                      </a:r>
                      <a:endParaRPr lang="en-IN" sz="1400" dirty="0"/>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b="1"/>
                        <a:t>Description</a:t>
                      </a:r>
                      <a:endParaRPr lang="en-IN" sz="1400"/>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108522"/>
                  </a:ext>
                </a:extLst>
              </a:tr>
              <a:tr h="740520">
                <a:tc>
                  <a:txBody>
                    <a:bodyPr/>
                    <a:lstStyle/>
                    <a:p>
                      <a:r>
                        <a:rPr lang="en-IN" sz="1400" dirty="0"/>
                        <a:t>Enhanced Historical Engagement</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Provided immersive AR-based learning with interactive 3D scenes and AI avatars.</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9174375"/>
                  </a:ext>
                </a:extLst>
              </a:tr>
              <a:tr h="740520">
                <a:tc>
                  <a:txBody>
                    <a:bodyPr/>
                    <a:lstStyle/>
                    <a:p>
                      <a:r>
                        <a:rPr lang="en-IN" sz="1400"/>
                        <a:t>Seamless Web-Based Access</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Enabled users to explore historical content via browser without needing extra hardware.</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0084517"/>
                  </a:ext>
                </a:extLst>
              </a:tr>
              <a:tr h="740520">
                <a:tc>
                  <a:txBody>
                    <a:bodyPr/>
                    <a:lstStyle/>
                    <a:p>
                      <a:r>
                        <a:rPr lang="en-US" sz="1400"/>
                        <a:t>Effective Use of Modern Tech Stack</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Utilized React, Three.js, Leaflet, and Express for a smooth, high-performance experience.</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0442039"/>
                  </a:ext>
                </a:extLst>
              </a:tr>
              <a:tr h="740520">
                <a:tc>
                  <a:txBody>
                    <a:bodyPr/>
                    <a:lstStyle/>
                    <a:p>
                      <a:r>
                        <a:rPr lang="en-IN" sz="1400"/>
                        <a:t>AI Personalization &amp; Simulation</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Offered personalized learning paths and “What-if” scenarios using AI capabilities.</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622117"/>
                  </a:ext>
                </a:extLst>
              </a:tr>
              <a:tr h="740520">
                <a:tc>
                  <a:txBody>
                    <a:bodyPr/>
                    <a:lstStyle/>
                    <a:p>
                      <a:r>
                        <a:rPr lang="en-IN" sz="1400"/>
                        <a:t>Interactive Map Navigation</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Allowed intuitive exploration of historical landmarks through a dynamic map interface.</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4984342"/>
                  </a:ext>
                </a:extLst>
              </a:tr>
              <a:tr h="530830">
                <a:tc>
                  <a:txBody>
                    <a:bodyPr/>
                    <a:lstStyle/>
                    <a:p>
                      <a:r>
                        <a:rPr lang="en-IN" sz="1400"/>
                        <a:t>Educational and Cultural Impact</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Promoted historical awareness and preserved cultural heritage digitally.</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6085511"/>
                  </a:ext>
                </a:extLst>
              </a:tr>
              <a:tr h="740520">
                <a:tc>
                  <a:txBody>
                    <a:bodyPr/>
                    <a:lstStyle/>
                    <a:p>
                      <a:r>
                        <a:rPr lang="en-IN" sz="1400"/>
                        <a:t>Scalable and Extensible Architecture</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Designed for easy addition of new content, regions, and advanced features in the future.</a:t>
                      </a:r>
                    </a:p>
                  </a:txBody>
                  <a:tcPr marL="69179" marR="69179" marT="34590" marB="345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7596518"/>
                  </a:ext>
                </a:extLst>
              </a:tr>
            </a:tbl>
          </a:graphicData>
        </a:graphic>
      </p:graphicFrame>
      <p:sp>
        <p:nvSpPr>
          <p:cNvPr id="4" name="Slide Number Placeholder 3">
            <a:extLst>
              <a:ext uri="{FF2B5EF4-FFF2-40B4-BE49-F238E27FC236}">
                <a16:creationId xmlns:a16="http://schemas.microsoft.com/office/drawing/2014/main" id="{8EB250B2-F371-D146-C2E3-10C623548921}"/>
              </a:ext>
            </a:extLst>
          </p:cNvPr>
          <p:cNvSpPr>
            <a:spLocks noGrp="1"/>
          </p:cNvSpPr>
          <p:nvPr>
            <p:ph type="sldNum" sz="quarter" idx="12"/>
          </p:nvPr>
        </p:nvSpPr>
        <p:spPr/>
        <p:txBody>
          <a:bodyPr/>
          <a:lstStyle/>
          <a:p>
            <a:fld id="{A575ECA5-96F4-415B-9B7B-F5BEE4B08E09}" type="slidenum">
              <a:rPr lang="en-IN" smtClean="0"/>
              <a:pPr/>
              <a:t>12</a:t>
            </a:fld>
            <a:endParaRPr lang="en-IN" dirty="0"/>
          </a:p>
        </p:txBody>
      </p:sp>
    </p:spTree>
    <p:extLst>
      <p:ext uri="{BB962C8B-B14F-4D97-AF65-F5344CB8AC3E}">
        <p14:creationId xmlns:p14="http://schemas.microsoft.com/office/powerpoint/2010/main" val="2346780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965F5-BA40-253B-C47F-7E7C9FE3E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712B7-3F9F-2A85-CD0F-563227F36D88}"/>
              </a:ext>
            </a:extLst>
          </p:cNvPr>
          <p:cNvSpPr>
            <a:spLocks noGrp="1"/>
          </p:cNvSpPr>
          <p:nvPr>
            <p:ph type="title"/>
          </p:nvPr>
        </p:nvSpPr>
        <p:spPr>
          <a:xfrm>
            <a:off x="1722068" y="293566"/>
            <a:ext cx="8911687" cy="903863"/>
          </a:xfrm>
        </p:spPr>
        <p:txBody>
          <a:bodyPr>
            <a:normAutofit fontScale="90000"/>
          </a:bodyPr>
          <a:lstStyle/>
          <a:p>
            <a:pPr marL="0" indent="0">
              <a:buNone/>
            </a:pPr>
            <a:r>
              <a:rPr lang="en-IN" sz="2800" b="1" dirty="0"/>
              <a:t>5. Conclusion &amp; Future Scope</a:t>
            </a:r>
            <a:br>
              <a:rPr lang="en-IN" sz="2800" dirty="0"/>
            </a:br>
            <a:r>
              <a:rPr lang="en-IN" sz="2800" dirty="0"/>
              <a:t>5.1 Conclusion </a:t>
            </a:r>
          </a:p>
        </p:txBody>
      </p:sp>
      <p:sp>
        <p:nvSpPr>
          <p:cNvPr id="3" name="Content Placeholder 2">
            <a:extLst>
              <a:ext uri="{FF2B5EF4-FFF2-40B4-BE49-F238E27FC236}">
                <a16:creationId xmlns:a16="http://schemas.microsoft.com/office/drawing/2014/main" id="{7A481FA5-2449-1A6D-AB1A-1A0894C6C54E}"/>
              </a:ext>
            </a:extLst>
          </p:cNvPr>
          <p:cNvSpPr>
            <a:spLocks noGrp="1"/>
          </p:cNvSpPr>
          <p:nvPr>
            <p:ph idx="1"/>
          </p:nvPr>
        </p:nvSpPr>
        <p:spPr>
          <a:xfrm>
            <a:off x="1281784" y="1208315"/>
            <a:ext cx="9940245" cy="5375222"/>
          </a:xfrm>
        </p:spPr>
        <p:txBody>
          <a:bodyPr>
            <a:normAutofit fontScale="92500"/>
          </a:bodyPr>
          <a:lstStyle/>
          <a:p>
            <a:r>
              <a:rPr lang="en-US" dirty="0"/>
              <a:t>The Historica project successfully demonstrates how immersive technologies like Augmented Reality, 3D modeling, and AI can revolutionize the way history is explored and understood. By transforming static historical facts into interactive experiences, Historica makes learning more engaging, accessible, and memorable. With its browser-based interface, users can time travel to ancient eras, interact with historical avatars, and explore culturally significant landmarks without the need for specialized hardware.</a:t>
            </a:r>
            <a:endParaRPr lang="en-GB" dirty="0"/>
          </a:p>
          <a:p>
            <a:pPr marL="0" indent="0">
              <a:buNone/>
            </a:pPr>
            <a:endParaRPr lang="en-GB" dirty="0"/>
          </a:p>
          <a:p>
            <a:endParaRPr lang="en-GB" dirty="0"/>
          </a:p>
          <a:p>
            <a:r>
              <a:rPr lang="en-US" dirty="0"/>
              <a:t>The potential of Historica extends far beyond its current implementation. In the future, the platform can integrate support for Virtual Reality (VR) headsets, voice-based AI avatars, multilingual content, real-time collaborative exploration, and integration with educational curricula. It also holds promise for global expansion, enabling the inclusion of world heritage sites and localized cultural stories.</a:t>
            </a:r>
            <a:endParaRPr lang="en-GB" dirty="0"/>
          </a:p>
          <a:p>
            <a:pPr marL="0" indent="0">
              <a:buNone/>
            </a:pPr>
            <a:endParaRPr lang="en-GB" dirty="0"/>
          </a:p>
          <a:p>
            <a:endParaRPr lang="en-IN" dirty="0"/>
          </a:p>
        </p:txBody>
      </p:sp>
      <p:sp>
        <p:nvSpPr>
          <p:cNvPr id="4" name="Slide Number Placeholder 3">
            <a:extLst>
              <a:ext uri="{FF2B5EF4-FFF2-40B4-BE49-F238E27FC236}">
                <a16:creationId xmlns:a16="http://schemas.microsoft.com/office/drawing/2014/main" id="{7E48A875-63C4-D25A-9ED7-AB1A378AF992}"/>
              </a:ext>
            </a:extLst>
          </p:cNvPr>
          <p:cNvSpPr>
            <a:spLocks noGrp="1"/>
          </p:cNvSpPr>
          <p:nvPr>
            <p:ph type="sldNum" sz="quarter" idx="12"/>
          </p:nvPr>
        </p:nvSpPr>
        <p:spPr/>
        <p:txBody>
          <a:bodyPr/>
          <a:lstStyle/>
          <a:p>
            <a:fld id="{A575ECA5-96F4-415B-9B7B-F5BEE4B08E09}" type="slidenum">
              <a:rPr lang="en-IN" smtClean="0"/>
              <a:pPr/>
              <a:t>13</a:t>
            </a:fld>
            <a:endParaRPr lang="en-IN" dirty="0"/>
          </a:p>
        </p:txBody>
      </p:sp>
      <p:sp>
        <p:nvSpPr>
          <p:cNvPr id="8" name="TextBox 7">
            <a:extLst>
              <a:ext uri="{FF2B5EF4-FFF2-40B4-BE49-F238E27FC236}">
                <a16:creationId xmlns:a16="http://schemas.microsoft.com/office/drawing/2014/main" id="{EB1CB732-D82A-39C8-0A5E-D3AC36612961}"/>
              </a:ext>
            </a:extLst>
          </p:cNvPr>
          <p:cNvSpPr txBox="1"/>
          <p:nvPr/>
        </p:nvSpPr>
        <p:spPr>
          <a:xfrm>
            <a:off x="1621972" y="4169228"/>
            <a:ext cx="6324600" cy="754053"/>
          </a:xfrm>
          <a:prstGeom prst="rect">
            <a:avLst/>
          </a:prstGeom>
          <a:noFill/>
        </p:spPr>
        <p:txBody>
          <a:bodyPr wrap="square" rtlCol="0">
            <a:spAutoFit/>
          </a:bodyPr>
          <a:lstStyle/>
          <a:p>
            <a:r>
              <a:rPr lang="en-IN" sz="2500" dirty="0">
                <a:latin typeface="Times New Roman" panose="02020603050405020304" pitchFamily="18" charset="0"/>
                <a:cs typeface="Times New Roman" panose="02020603050405020304" pitchFamily="18" charset="0"/>
              </a:rPr>
              <a:t>5.2 Future Scope</a:t>
            </a:r>
          </a:p>
          <a:p>
            <a:endParaRPr lang="en-IN" dirty="0"/>
          </a:p>
        </p:txBody>
      </p:sp>
    </p:spTree>
    <p:extLst>
      <p:ext uri="{BB962C8B-B14F-4D97-AF65-F5344CB8AC3E}">
        <p14:creationId xmlns:p14="http://schemas.microsoft.com/office/powerpoint/2010/main" val="308575340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392</TotalTime>
  <Words>1621</Words>
  <Application>Microsoft Macintosh PowerPoint</Application>
  <PresentationFormat>Widescreen</PresentationFormat>
  <Paragraphs>203</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Century Gothic</vt:lpstr>
      <vt:lpstr>Elephant</vt:lpstr>
      <vt:lpstr>Times New Roman</vt:lpstr>
      <vt:lpstr>Wingdings 3</vt:lpstr>
      <vt:lpstr>Wisp</vt:lpstr>
      <vt:lpstr>          Presentation on  Historica AR/VR Powered Immersive Historical Learning Experience </vt:lpstr>
      <vt:lpstr>Contents</vt:lpstr>
      <vt:lpstr>Contents (Continued)</vt:lpstr>
      <vt:lpstr>1. Methodology 1.1 Proposed Algorithm</vt:lpstr>
      <vt:lpstr>1. Methodology 1.1 Proposed Algorithm</vt:lpstr>
      <vt:lpstr>2. Implementation Approach 2.1 Introduction to Languages, IDEs Tools and Technologies</vt:lpstr>
      <vt:lpstr>3. Testing Approaches 3.1 Unit Testing a. Test Cases </vt:lpstr>
      <vt:lpstr>3.2 Integration Testing b. Test Cases  </vt:lpstr>
      <vt:lpstr>4. Results &amp; Discussion 4.1 User Interface Representation 4.1.1 Brief Description of Various Modules</vt:lpstr>
      <vt:lpstr>4.2 Snapshot of System with Brief Description</vt:lpstr>
      <vt:lpstr>4.3 Database Description 4.3.1 Snapshot of Database Tables with Brief Description  </vt:lpstr>
      <vt:lpstr>4.4 Final Findings </vt:lpstr>
      <vt:lpstr>5. Conclusion &amp; Future Scope 5.1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Presentation on  Title of Project</dc:title>
  <dc:creator>Deepak Singh Chouhan</dc:creator>
  <cp:lastModifiedBy>Atharv  Sharma</cp:lastModifiedBy>
  <cp:revision>25</cp:revision>
  <dcterms:created xsi:type="dcterms:W3CDTF">2024-09-26T07:25:32Z</dcterms:created>
  <dcterms:modified xsi:type="dcterms:W3CDTF">2026-04-06T05:02:08Z</dcterms:modified>
</cp:coreProperties>
</file>