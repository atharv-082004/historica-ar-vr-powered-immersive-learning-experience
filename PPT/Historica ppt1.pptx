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8"/>
  </p:notesMasterIdLst>
  <p:sldIdLst>
    <p:sldId id="256" r:id="rId2"/>
    <p:sldId id="257" r:id="rId3"/>
    <p:sldId id="258" r:id="rId4"/>
    <p:sldId id="259" r:id="rId5"/>
    <p:sldId id="260" r:id="rId6"/>
    <p:sldId id="261" r:id="rId7"/>
    <p:sldId id="262" r:id="rId8"/>
    <p:sldId id="263" r:id="rId9"/>
    <p:sldId id="273" r:id="rId10"/>
    <p:sldId id="269" r:id="rId11"/>
    <p:sldId id="270" r:id="rId12"/>
    <p:sldId id="271" r:id="rId13"/>
    <p:sldId id="272" r:id="rId14"/>
    <p:sldId id="266" r:id="rId15"/>
    <p:sldId id="268" r:id="rId16"/>
    <p:sldId id="26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585" autoAdjust="0"/>
    <p:restoredTop sz="94681"/>
  </p:normalViewPr>
  <p:slideViewPr>
    <p:cSldViewPr snapToGrid="0">
      <p:cViewPr varScale="1">
        <p:scale>
          <a:sx n="62" d="100"/>
          <a:sy n="62" d="100"/>
        </p:scale>
        <p:origin x="208" y="13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CFAE5-ADF6-4A84-8EA5-0D21F6BA36C9}" type="datetimeFigureOut">
              <a:rPr lang="en-IN" smtClean="0"/>
              <a:pPr/>
              <a:t>06/04/26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35D675-1F46-4B87-A5F8-67DB0C31E211}" type="slidenum">
              <a:rPr lang="en-IN" smtClean="0"/>
              <a:pPr/>
              <a:t>‹#›</a:t>
            </a:fld>
            <a:endParaRPr lang="en-IN"/>
          </a:p>
        </p:txBody>
      </p:sp>
    </p:spTree>
    <p:extLst>
      <p:ext uri="{BB962C8B-B14F-4D97-AF65-F5344CB8AC3E}">
        <p14:creationId xmlns:p14="http://schemas.microsoft.com/office/powerpoint/2010/main" val="3763622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F7CE75-2696-426B-A7C6-7629D8CF2437}" type="datetime1">
              <a:rPr lang="en-IN" smtClean="0"/>
              <a:pPr/>
              <a:t>06/04/26</a:t>
            </a:fld>
            <a:endParaRPr lang="en-IN"/>
          </a:p>
        </p:txBody>
      </p:sp>
      <p:sp>
        <p:nvSpPr>
          <p:cNvPr id="5" name="Footer Placeholder 4"/>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675972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normAutofit/>
          </a:bodyPr>
          <a:lstStyle>
            <a:lvl1pPr>
              <a:defRPr sz="40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normAutofit/>
          </a:bodyP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600">
                <a:latin typeface="Times New Roman" panose="02020603050405020304" pitchFamily="18" charset="0"/>
                <a:cs typeface="Times New Roman" panose="02020603050405020304" pitchFamily="18" charset="0"/>
              </a:defRPr>
            </a:lvl3pPr>
            <a:lvl4pPr>
              <a:defRPr sz="14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B28F0E0-2234-4197-A558-6EA21AC7A0A0}" type="datetime1">
              <a:rPr lang="en-IN" smtClean="0"/>
              <a:pPr/>
              <a:t>06/04/26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userDrawn="1"/>
        </p:nvSpPr>
        <p:spPr bwMode="auto">
          <a:xfrm rot="10800000" flipV="1">
            <a:off x="10587856" y="6247184"/>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11222029" y="6338155"/>
            <a:ext cx="779767" cy="365125"/>
          </a:xfrm>
        </p:spPr>
        <p:txBody>
          <a:bodyPr/>
          <a:lstStyle>
            <a:lvl1pPr>
              <a:defRPr>
                <a:solidFill>
                  <a:schemeClr val="bg1"/>
                </a:solidFill>
              </a:defRPr>
            </a:lvl1pPr>
          </a:lstStyle>
          <a:p>
            <a:fld id="{A575ECA5-96F4-415B-9B7B-F5BEE4B08E09}" type="slidenum">
              <a:rPr lang="en-IN" smtClean="0"/>
              <a:pPr/>
              <a:t>‹#›</a:t>
            </a:fld>
            <a:endParaRPr lang="en-IN" dirty="0"/>
          </a:p>
        </p:txBody>
      </p:sp>
      <p:pic>
        <p:nvPicPr>
          <p:cNvPr id="9" name="Picture 8">
            <a:extLst>
              <a:ext uri="{FF2B5EF4-FFF2-40B4-BE49-F238E27FC236}">
                <a16:creationId xmlns:a16="http://schemas.microsoft.com/office/drawing/2014/main" id="{4D4E0AF9-0CD7-865F-F584-E7F93A8852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5710" y="0"/>
            <a:ext cx="1457325" cy="1243013"/>
          </a:xfrm>
          <a:prstGeom prst="rect">
            <a:avLst/>
          </a:prstGeom>
        </p:spPr>
      </p:pic>
      <p:pic>
        <p:nvPicPr>
          <p:cNvPr id="11" name="Picture 10">
            <a:extLst>
              <a:ext uri="{FF2B5EF4-FFF2-40B4-BE49-F238E27FC236}">
                <a16:creationId xmlns:a16="http://schemas.microsoft.com/office/drawing/2014/main" id="{6642BC9D-E099-1948-3435-FFC2468E3BB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03395" y="-394223"/>
            <a:ext cx="1017037" cy="1808066"/>
          </a:xfrm>
          <a:prstGeom prst="rect">
            <a:avLst/>
          </a:prstGeom>
        </p:spPr>
      </p:pic>
    </p:spTree>
    <p:extLst>
      <p:ext uri="{BB962C8B-B14F-4D97-AF65-F5344CB8AC3E}">
        <p14:creationId xmlns:p14="http://schemas.microsoft.com/office/powerpoint/2010/main" val="3684865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133316-F1D2-4CFB-B3A8-36FF84D60DC1}" type="datetime1">
              <a:rPr lang="en-IN" smtClean="0"/>
              <a:pPr/>
              <a:t>06/04/26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2693941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EDD2DD-462B-4CBA-AA0A-8301F8EE9842}" type="datetime1">
              <a:rPr lang="en-IN" smtClean="0"/>
              <a:pPr/>
              <a:t>06/04/26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85902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6F0FB0-DEC5-44F8-B224-7DEA76B58BCE}" type="datetime1">
              <a:rPr lang="en-IN" smtClean="0"/>
              <a:pPr/>
              <a:t>06/04/26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1225132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2151C4-12AA-486A-8A73-FD7CDFC9A495}" type="datetime1">
              <a:rPr lang="en-IN" smtClean="0"/>
              <a:pPr/>
              <a:t>06/04/26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492892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4A1EF-1C77-4320-9664-16BFC03E4F4D}" type="datetime1">
              <a:rPr lang="en-IN" smtClean="0"/>
              <a:pPr/>
              <a:t>06/04/26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1311484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01BE58-E9FD-47D2-91AC-7CE0251A25B2}" type="datetime1">
              <a:rPr lang="en-IN" smtClean="0"/>
              <a:pPr/>
              <a:t>06/04/26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2428767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071803-78DB-4882-8A70-E311DA0EF9FC}" type="datetime1">
              <a:rPr lang="en-IN" smtClean="0"/>
              <a:pPr/>
              <a:t>06/04/26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766961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B228FF-BE53-47F7-B430-409A097CA437}" type="datetime1">
              <a:rPr lang="en-IN" smtClean="0"/>
              <a:pPr/>
              <a:t>06/04/26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269775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065DF8-C87B-4AA2-B81E-F9B41C3DE973}" type="datetime1">
              <a:rPr lang="en-IN" smtClean="0"/>
              <a:pPr/>
              <a:t>06/04/26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3EE77-AAE2-43CD-9ABE-9DB80FB4FF84}"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44965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3031343-E99C-4C22-AAE8-C343A811CECF}" type="datetime1">
              <a:rPr lang="en-IN" smtClean="0"/>
              <a:pPr/>
              <a:t>06/04/26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2787278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65CDC9B-DBC7-4258-BEB9-733492353AF9}" type="datetime1">
              <a:rPr lang="en-IN" smtClean="0"/>
              <a:pPr/>
              <a:t>06/04/26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15122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A3C6488-E703-4AFF-AB60-B11F0E50C7BC}" type="datetime1">
              <a:rPr lang="en-IN" smtClean="0"/>
              <a:pPr/>
              <a:t>06/04/26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1273111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F63479-18BA-4E37-9716-A08D210E9EC7}" type="datetime1">
              <a:rPr lang="en-IN" smtClean="0"/>
              <a:pPr/>
              <a:t>06/04/26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2535254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6F7E75-1528-41FC-88CA-CFEB217670A5}" type="datetime1">
              <a:rPr lang="en-IN" smtClean="0"/>
              <a:pPr/>
              <a:t>06/04/26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3EE77-AAE2-43CD-9ABE-9DB80FB4FF84}" type="slidenum">
              <a:rPr lang="en-IN" smtClean="0"/>
              <a:pPr/>
              <a:t>‹#›</a:t>
            </a:fld>
            <a:endParaRPr lang="en-IN"/>
          </a:p>
        </p:txBody>
      </p:sp>
    </p:spTree>
    <p:extLst>
      <p:ext uri="{BB962C8B-B14F-4D97-AF65-F5344CB8AC3E}">
        <p14:creationId xmlns:p14="http://schemas.microsoft.com/office/powerpoint/2010/main" val="2738554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F858841-AB6D-42AC-A9E1-E0D97A1068DD}" type="datetime1">
              <a:rPr lang="en-IN" smtClean="0"/>
              <a:pPr/>
              <a:t>06/04/26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193EE77-AAE2-43CD-9ABE-9DB80FB4FF84}" type="slidenum">
              <a:rPr lang="en-IN" smtClean="0"/>
              <a:pPr/>
              <a:t>‹#›</a:t>
            </a:fld>
            <a:endParaRPr lang="en-IN"/>
          </a:p>
        </p:txBody>
      </p:sp>
    </p:spTree>
    <p:extLst>
      <p:ext uri="{BB962C8B-B14F-4D97-AF65-F5344CB8AC3E}">
        <p14:creationId xmlns:p14="http://schemas.microsoft.com/office/powerpoint/2010/main" val="114260593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frame.io/" TargetMode="External"/><Relationship Id="rId2" Type="http://schemas.openxmlformats.org/officeDocument/2006/relationships/hyperlink" Target="https://threejs.org/" TargetMode="External"/><Relationship Id="rId1" Type="http://schemas.openxmlformats.org/officeDocument/2006/relationships/slideLayout" Target="../slideLayouts/slideLayout2.xml"/><Relationship Id="rId6" Type="http://schemas.openxmlformats.org/officeDocument/2006/relationships/hyperlink" Target="http://www.cyark.org/" TargetMode="External"/><Relationship Id="rId5" Type="http://schemas.openxmlformats.org/officeDocument/2006/relationships/hyperlink" Target="https://whc.unesco.org/" TargetMode="External"/><Relationship Id="rId4" Type="http://schemas.openxmlformats.org/officeDocument/2006/relationships/hyperlink" Target="https://modelviewer.dev/"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Atharv-082004/Historica"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4E13-AF13-FE84-B59A-88C7FF0DDD90}"/>
              </a:ext>
            </a:extLst>
          </p:cNvPr>
          <p:cNvSpPr>
            <a:spLocks noGrp="1"/>
          </p:cNvSpPr>
          <p:nvPr>
            <p:ph type="ctrTitle"/>
          </p:nvPr>
        </p:nvSpPr>
        <p:spPr>
          <a:xfrm>
            <a:off x="1638300" y="1024204"/>
            <a:ext cx="8915399" cy="2511551"/>
          </a:xfrm>
        </p:spPr>
        <p:txBody>
          <a:bodyPr>
            <a:normAutofit fontScale="90000"/>
          </a:bodyPr>
          <a:lstStyle/>
          <a:p>
            <a:pPr algn="ctr"/>
            <a:br>
              <a:rPr lang="en-IN" dirty="0"/>
            </a:br>
            <a:br>
              <a:rPr lang="en-IN" dirty="0"/>
            </a:br>
            <a:br>
              <a:rPr lang="en-IN" dirty="0"/>
            </a:br>
            <a:br>
              <a:rPr lang="en-IN" dirty="0"/>
            </a:br>
            <a:br>
              <a:rPr lang="en-IN" dirty="0"/>
            </a:br>
            <a:br>
              <a:rPr lang="en-IN" dirty="0"/>
            </a:br>
            <a:br>
              <a:rPr lang="en-IN" dirty="0"/>
            </a:br>
            <a:br>
              <a:rPr lang="en-IN" dirty="0"/>
            </a:br>
            <a:br>
              <a:rPr lang="en-IN" dirty="0"/>
            </a:br>
            <a:r>
              <a:rPr lang="en-IN" sz="3100" dirty="0">
                <a:latin typeface="Times New Roman" panose="02020603050405020304" pitchFamily="18" charset="0"/>
                <a:cs typeface="Times New Roman" panose="02020603050405020304" pitchFamily="18" charset="0"/>
              </a:rPr>
              <a:t> Presentation</a:t>
            </a:r>
            <a:br>
              <a:rPr lang="en-IN" sz="31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on </a:t>
            </a:r>
            <a:br>
              <a:rPr lang="en-IN" dirty="0">
                <a:latin typeface="Times New Roman" panose="02020603050405020304" pitchFamily="18" charset="0"/>
                <a:cs typeface="Times New Roman" panose="02020603050405020304" pitchFamily="18" charset="0"/>
              </a:rPr>
            </a:br>
            <a:r>
              <a:rPr lang="en-IN" dirty="0" err="1">
                <a:latin typeface="Elephant" panose="02020904090505020303" pitchFamily="18" charset="0"/>
                <a:cs typeface="Times New Roman" panose="02020603050405020304" pitchFamily="18" charset="0"/>
              </a:rPr>
              <a:t>Historica</a:t>
            </a:r>
            <a:br>
              <a:rPr lang="en-IN"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AR/VR Powered Immersive Historical Learning Experience</a:t>
            </a:r>
          </a:p>
        </p:txBody>
      </p:sp>
      <p:sp>
        <p:nvSpPr>
          <p:cNvPr id="3" name="Subtitle 2">
            <a:extLst>
              <a:ext uri="{FF2B5EF4-FFF2-40B4-BE49-F238E27FC236}">
                <a16:creationId xmlns:a16="http://schemas.microsoft.com/office/drawing/2014/main" id="{E4B09E56-A5E9-0BDC-98BD-DDD921DCD7E1}"/>
              </a:ext>
            </a:extLst>
          </p:cNvPr>
          <p:cNvSpPr>
            <a:spLocks noGrp="1"/>
          </p:cNvSpPr>
          <p:nvPr>
            <p:ph type="subTitle" idx="1"/>
          </p:nvPr>
        </p:nvSpPr>
        <p:spPr>
          <a:xfrm>
            <a:off x="1491343" y="3747052"/>
            <a:ext cx="9963574" cy="3031435"/>
          </a:xfrm>
        </p:spPr>
        <p:txBody>
          <a:bodyPr>
            <a:normAutofit/>
          </a:bodyPr>
          <a:lstStyle/>
          <a:p>
            <a:r>
              <a:rPr lang="en-IN" b="1" dirty="0">
                <a:latin typeface="Times New Roman" panose="02020603050405020304" pitchFamily="18" charset="0"/>
                <a:cs typeface="Times New Roman" panose="02020603050405020304" pitchFamily="18" charset="0"/>
              </a:rPr>
              <a:t>Guided By: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Prof.  Monika Choudhary							Atharv Sharma (0827IT233D02)</a:t>
            </a:r>
          </a:p>
          <a:p>
            <a:r>
              <a:rPr lang="en-IN" dirty="0">
                <a:latin typeface="Times New Roman" panose="02020603050405020304" pitchFamily="18" charset="0"/>
                <a:cs typeface="Times New Roman" panose="02020603050405020304" pitchFamily="18" charset="0"/>
              </a:rPr>
              <a:t>												Khushi Agrawal (0827IT221076)</a:t>
            </a:r>
          </a:p>
          <a:p>
            <a:r>
              <a:rPr lang="en-IN" dirty="0">
                <a:latin typeface="Times New Roman" panose="02020603050405020304" pitchFamily="18" charset="0"/>
                <a:cs typeface="Times New Roman" panose="02020603050405020304" pitchFamily="18" charset="0"/>
              </a:rPr>
              <a:t>												Abhishek Rathore (0827IT233D01)</a:t>
            </a:r>
          </a:p>
          <a:p>
            <a:r>
              <a:rPr lang="en-IN" dirty="0">
                <a:latin typeface="Times New Roman" panose="02020603050405020304" pitchFamily="18" charset="0"/>
                <a:cs typeface="Times New Roman" panose="02020603050405020304" pitchFamily="18" charset="0"/>
              </a:rPr>
              <a:t>												Jatin Rao (0827IT233D03)</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69BC312B-2F58-B7DE-00D2-0142F8801F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7059" y="-354166"/>
            <a:ext cx="1175716" cy="2090162"/>
          </a:xfrm>
          <a:prstGeom prst="rect">
            <a:avLst/>
          </a:prstGeom>
        </p:spPr>
      </p:pic>
      <p:pic>
        <p:nvPicPr>
          <p:cNvPr id="9" name="Picture 8">
            <a:extLst>
              <a:ext uri="{FF2B5EF4-FFF2-40B4-BE49-F238E27FC236}">
                <a16:creationId xmlns:a16="http://schemas.microsoft.com/office/drawing/2014/main" id="{145F9EF6-DBB5-9291-78C0-1BD5FCF2C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75" y="0"/>
            <a:ext cx="1620078" cy="1381831"/>
          </a:xfrm>
          <a:prstGeom prst="rect">
            <a:avLst/>
          </a:prstGeom>
        </p:spPr>
      </p:pic>
    </p:spTree>
    <p:extLst>
      <p:ext uri="{BB962C8B-B14F-4D97-AF65-F5344CB8AC3E}">
        <p14:creationId xmlns:p14="http://schemas.microsoft.com/office/powerpoint/2010/main" val="4172270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98BD3-82F3-F887-7675-7696E56FA9EA}"/>
              </a:ext>
            </a:extLst>
          </p:cNvPr>
          <p:cNvSpPr>
            <a:spLocks noGrp="1"/>
          </p:cNvSpPr>
          <p:nvPr>
            <p:ph type="title"/>
          </p:nvPr>
        </p:nvSpPr>
        <p:spPr>
          <a:xfrm>
            <a:off x="2589212" y="475750"/>
            <a:ext cx="8911687" cy="1280890"/>
          </a:xfrm>
        </p:spPr>
        <p:txBody>
          <a:bodyPr/>
          <a:lstStyle/>
          <a:p>
            <a:r>
              <a:rPr lang="en-IN" dirty="0"/>
              <a:t>Contents</a:t>
            </a:r>
          </a:p>
        </p:txBody>
      </p:sp>
      <p:sp>
        <p:nvSpPr>
          <p:cNvPr id="3" name="Content Placeholder 2">
            <a:extLst>
              <a:ext uri="{FF2B5EF4-FFF2-40B4-BE49-F238E27FC236}">
                <a16:creationId xmlns:a16="http://schemas.microsoft.com/office/drawing/2014/main" id="{CF4DD591-8615-A08A-67F8-943007048E4D}"/>
              </a:ext>
            </a:extLst>
          </p:cNvPr>
          <p:cNvSpPr>
            <a:spLocks noGrp="1"/>
          </p:cNvSpPr>
          <p:nvPr>
            <p:ph idx="1"/>
          </p:nvPr>
        </p:nvSpPr>
        <p:spPr>
          <a:xfrm>
            <a:off x="2589212" y="1152939"/>
            <a:ext cx="8915400" cy="5185216"/>
          </a:xfrm>
        </p:spPr>
        <p:txBody>
          <a:bodyPr>
            <a:normAutofit lnSpcReduction="10000"/>
          </a:bodyPr>
          <a:lstStyle/>
          <a:p>
            <a:pPr marL="457200" indent="-457200">
              <a:buFont typeface="+mj-lt"/>
              <a:buAutoNum type="arabicPeriod"/>
            </a:pPr>
            <a:r>
              <a:rPr lang="en-IN" dirty="0"/>
              <a:t>Introduction</a:t>
            </a:r>
          </a:p>
          <a:p>
            <a:pPr marL="457200" lvl="1" indent="0">
              <a:buNone/>
            </a:pPr>
            <a:r>
              <a:rPr lang="en-IN" dirty="0">
                <a:solidFill>
                  <a:srgbClr val="C00000"/>
                </a:solidFill>
              </a:rPr>
              <a:t>1.1</a:t>
            </a:r>
            <a:r>
              <a:rPr lang="en-IN" dirty="0"/>
              <a:t> Overview</a:t>
            </a:r>
          </a:p>
          <a:p>
            <a:pPr marL="457200" lvl="1" indent="0">
              <a:buNone/>
            </a:pPr>
            <a:r>
              <a:rPr lang="en-IN" dirty="0">
                <a:solidFill>
                  <a:srgbClr val="C00000"/>
                </a:solidFill>
              </a:rPr>
              <a:t>1.2</a:t>
            </a:r>
            <a:r>
              <a:rPr lang="en-IN" dirty="0"/>
              <a:t> Purpose</a:t>
            </a:r>
          </a:p>
          <a:p>
            <a:pPr marL="457200" indent="-457200">
              <a:buFont typeface="+mj-lt"/>
              <a:buAutoNum type="arabicPeriod"/>
            </a:pPr>
            <a:r>
              <a:rPr lang="en-IN" dirty="0"/>
              <a:t>Literature Review</a:t>
            </a:r>
          </a:p>
          <a:p>
            <a:pPr marL="457200" indent="-457200">
              <a:buFont typeface="+mj-lt"/>
              <a:buAutoNum type="arabicPeriod"/>
            </a:pPr>
            <a:r>
              <a:rPr lang="en-IN" dirty="0"/>
              <a:t>Problem Statement</a:t>
            </a:r>
          </a:p>
          <a:p>
            <a:pPr marL="457200" indent="-457200">
              <a:buFont typeface="+mj-lt"/>
              <a:buAutoNum type="arabicPeriod"/>
            </a:pPr>
            <a:r>
              <a:rPr lang="en-IN" dirty="0"/>
              <a:t>Proposed Solution</a:t>
            </a:r>
          </a:p>
          <a:p>
            <a:pPr marL="457200" indent="-457200">
              <a:buFont typeface="+mj-lt"/>
              <a:buAutoNum type="arabicPeriod"/>
            </a:pPr>
            <a:r>
              <a:rPr lang="en-IN" dirty="0"/>
              <a:t>Objectives</a:t>
            </a:r>
          </a:p>
          <a:p>
            <a:pPr marL="457200" indent="-457200">
              <a:buFont typeface="+mj-lt"/>
              <a:buAutoNum type="arabicPeriod"/>
            </a:pPr>
            <a:r>
              <a:rPr lang="en-IN" dirty="0"/>
              <a:t>Block Diagram</a:t>
            </a:r>
          </a:p>
          <a:p>
            <a:pPr marL="457200" indent="-457200">
              <a:buFont typeface="+mj-lt"/>
              <a:buAutoNum type="arabicPeriod"/>
            </a:pPr>
            <a:r>
              <a:rPr lang="en-IN" dirty="0"/>
              <a:t>Key Features</a:t>
            </a:r>
          </a:p>
          <a:p>
            <a:pPr marL="457200" indent="-457200">
              <a:buFont typeface="+mj-lt"/>
              <a:buAutoNum type="arabicPeriod"/>
            </a:pPr>
            <a:r>
              <a:rPr lang="en-IN" dirty="0"/>
              <a:t>Social Impact and Applications </a:t>
            </a:r>
          </a:p>
          <a:p>
            <a:pPr marL="0" indent="0">
              <a:buNone/>
            </a:pPr>
            <a:r>
              <a:rPr lang="en-IN" dirty="0"/>
              <a:t>REFERENCES</a:t>
            </a:r>
          </a:p>
        </p:txBody>
      </p:sp>
      <p:sp>
        <p:nvSpPr>
          <p:cNvPr id="4" name="Slide Number Placeholder 3">
            <a:extLst>
              <a:ext uri="{FF2B5EF4-FFF2-40B4-BE49-F238E27FC236}">
                <a16:creationId xmlns:a16="http://schemas.microsoft.com/office/drawing/2014/main" id="{E8A21891-9C7A-E4D4-07BD-AF0CB8124C66}"/>
              </a:ext>
            </a:extLst>
          </p:cNvPr>
          <p:cNvSpPr>
            <a:spLocks noGrp="1"/>
          </p:cNvSpPr>
          <p:nvPr>
            <p:ph type="sldNum" sz="quarter" idx="12"/>
          </p:nvPr>
        </p:nvSpPr>
        <p:spPr/>
        <p:txBody>
          <a:bodyPr/>
          <a:lstStyle/>
          <a:p>
            <a:fld id="{A575ECA5-96F4-415B-9B7B-F5BEE4B08E09}" type="slidenum">
              <a:rPr lang="en-IN" smtClean="0"/>
              <a:pPr/>
              <a:t>2</a:t>
            </a:fld>
            <a:endParaRPr lang="en-IN" dirty="0"/>
          </a:p>
        </p:txBody>
      </p:sp>
    </p:spTree>
    <p:extLst>
      <p:ext uri="{BB962C8B-B14F-4D97-AF65-F5344CB8AC3E}">
        <p14:creationId xmlns:p14="http://schemas.microsoft.com/office/powerpoint/2010/main" val="1048645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1874469" y="359067"/>
            <a:ext cx="8911687" cy="1280890"/>
          </a:xfrm>
        </p:spPr>
        <p:txBody>
          <a:bodyPr/>
          <a:lstStyle/>
          <a:p>
            <a:r>
              <a:rPr lang="en-IN" dirty="0"/>
              <a:t>1. Introduction</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1874469" y="1106557"/>
            <a:ext cx="8915400" cy="5479300"/>
          </a:xfrm>
        </p:spPr>
        <p:txBody>
          <a:bodyPr>
            <a:normAutofit/>
          </a:bodyPr>
          <a:lstStyle/>
          <a:p>
            <a:pPr marL="0" indent="0">
              <a:buNone/>
            </a:pPr>
            <a:r>
              <a:rPr lang="en-IN" b="1" dirty="0"/>
              <a:t>      </a:t>
            </a:r>
            <a:r>
              <a:rPr lang="en-IN" b="1" u="sng" dirty="0"/>
              <a:t>1.1 Overview</a:t>
            </a:r>
          </a:p>
          <a:p>
            <a:pPr lvl="1">
              <a:buFont typeface="Wingdings" pitchFamily="2" charset="2"/>
              <a:buChar char="Ø"/>
            </a:pPr>
            <a:r>
              <a:rPr lang="en-GB" b="1" dirty="0"/>
              <a:t>Historica</a:t>
            </a:r>
            <a:r>
              <a:rPr lang="en-GB" dirty="0"/>
              <a:t> is a </a:t>
            </a:r>
            <a:r>
              <a:rPr lang="en-GB" b="1" dirty="0"/>
              <a:t>web-based platform</a:t>
            </a:r>
            <a:r>
              <a:rPr lang="en-GB" dirty="0"/>
              <a:t> that provides </a:t>
            </a:r>
            <a:r>
              <a:rPr lang="en-GB" b="1" dirty="0"/>
              <a:t>interactive 3D models</a:t>
            </a:r>
            <a:r>
              <a:rPr lang="en-GB" dirty="0"/>
              <a:t> of historical sites, showcasing how </a:t>
            </a:r>
            <a:r>
              <a:rPr lang="en-GB"/>
              <a:t>they appear.</a:t>
            </a:r>
            <a:endParaRPr lang="en-GB" dirty="0"/>
          </a:p>
          <a:p>
            <a:pPr lvl="1">
              <a:buFont typeface="Wingdings" pitchFamily="2" charset="2"/>
              <a:buChar char="Ø"/>
            </a:pPr>
            <a:r>
              <a:rPr lang="en-GB" dirty="0"/>
              <a:t>It allows users to </a:t>
            </a:r>
            <a:r>
              <a:rPr lang="en-GB" b="1" dirty="0"/>
              <a:t>explore ancient landmarks in detail</a:t>
            </a:r>
            <a:r>
              <a:rPr lang="en-GB" dirty="0"/>
              <a:t> with </a:t>
            </a:r>
            <a:r>
              <a:rPr lang="en-GB" b="1" dirty="0"/>
              <a:t>zoom, rotation, and AR integration</a:t>
            </a:r>
            <a:r>
              <a:rPr lang="en-GB" dirty="0"/>
              <a:t> for an immersive experience.</a:t>
            </a:r>
          </a:p>
          <a:p>
            <a:pPr lvl="1">
              <a:buFont typeface="Wingdings" pitchFamily="2" charset="2"/>
              <a:buChar char="Ø"/>
            </a:pPr>
            <a:r>
              <a:rPr lang="en-GB" dirty="0"/>
              <a:t>The platform combines </a:t>
            </a:r>
            <a:r>
              <a:rPr lang="en-GB" b="1" dirty="0"/>
              <a:t>historical accuracy with digital technology</a:t>
            </a:r>
            <a:r>
              <a:rPr lang="en-GB" dirty="0"/>
              <a:t>, making history more engaging and accessible.</a:t>
            </a:r>
          </a:p>
          <a:p>
            <a:pPr lvl="1">
              <a:buFont typeface="Wingdings" pitchFamily="2" charset="2"/>
              <a:buChar char="Ø"/>
            </a:pPr>
            <a:r>
              <a:rPr lang="en-GB" dirty="0"/>
              <a:t>Designed for </a:t>
            </a:r>
            <a:r>
              <a:rPr lang="en-GB" b="1" dirty="0"/>
              <a:t>students, researchers, educators, and history enthusiasts</a:t>
            </a:r>
            <a:r>
              <a:rPr lang="en-GB" dirty="0"/>
              <a:t>, it serves as an </a:t>
            </a:r>
            <a:r>
              <a:rPr lang="en-GB" b="1" dirty="0"/>
              <a:t>educational and cultural preservation tool</a:t>
            </a:r>
            <a:r>
              <a:rPr lang="en-GB" dirty="0"/>
              <a:t>.</a:t>
            </a:r>
          </a:p>
          <a:p>
            <a:pPr marL="457200" lvl="1" indent="0">
              <a:buNone/>
            </a:pPr>
            <a:r>
              <a:rPr lang="en-US" sz="2400" b="1" u="sng" dirty="0">
                <a:solidFill>
                  <a:srgbClr val="000000"/>
                </a:solidFill>
                <a:latin typeface="Times New Roman" panose="02020603050405020304" pitchFamily="18" charset="0"/>
              </a:rPr>
              <a:t>1.2 Purpose</a:t>
            </a:r>
          </a:p>
          <a:p>
            <a:pPr lvl="1">
              <a:buFont typeface="Wingdings" pitchFamily="2" charset="2"/>
              <a:buChar char="Ø"/>
            </a:pPr>
            <a:r>
              <a:rPr lang="en-GB" b="1" dirty="0"/>
              <a:t>Enhance Historical Learning:</a:t>
            </a:r>
            <a:r>
              <a:rPr lang="en-GB" dirty="0"/>
              <a:t> Provides an interactive way to </a:t>
            </a:r>
            <a:r>
              <a:rPr lang="en-GB" b="1" dirty="0"/>
              <a:t>study history with visual reconstructions</a:t>
            </a:r>
            <a:r>
              <a:rPr lang="en-GB" dirty="0"/>
              <a:t>, making education more engaging.</a:t>
            </a:r>
          </a:p>
          <a:p>
            <a:pPr lvl="1">
              <a:buFont typeface="Wingdings" pitchFamily="2" charset="2"/>
              <a:buChar char="Ø"/>
            </a:pPr>
            <a:r>
              <a:rPr lang="en-GB" b="1" dirty="0"/>
              <a:t>Virtual Exploration &amp; Tourism:</a:t>
            </a:r>
            <a:r>
              <a:rPr lang="en-GB" dirty="0"/>
              <a:t> Enables users to </a:t>
            </a:r>
            <a:r>
              <a:rPr lang="en-GB" b="1" dirty="0"/>
              <a:t>experience historical sites remotely</a:t>
            </a:r>
            <a:r>
              <a:rPr lang="en-GB" dirty="0"/>
              <a:t>, bridging the gap between travel and digital learning.</a:t>
            </a:r>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3</a:t>
            </a:fld>
            <a:endParaRPr lang="en-IN" dirty="0"/>
          </a:p>
        </p:txBody>
      </p:sp>
    </p:spTree>
    <p:extLst>
      <p:ext uri="{BB962C8B-B14F-4D97-AF65-F5344CB8AC3E}">
        <p14:creationId xmlns:p14="http://schemas.microsoft.com/office/powerpoint/2010/main" val="4021755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589212" y="359067"/>
            <a:ext cx="8911687" cy="1280890"/>
          </a:xfrm>
        </p:spPr>
        <p:txBody>
          <a:bodyPr/>
          <a:lstStyle/>
          <a:p>
            <a:r>
              <a:rPr lang="en-IN" dirty="0"/>
              <a:t>2. Literature Review</a:t>
            </a:r>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4</a:t>
            </a:fld>
            <a:endParaRPr lang="en-IN" dirty="0"/>
          </a:p>
        </p:txBody>
      </p:sp>
      <p:graphicFrame>
        <p:nvGraphicFramePr>
          <p:cNvPr id="5" name="Table 4">
            <a:extLst>
              <a:ext uri="{FF2B5EF4-FFF2-40B4-BE49-F238E27FC236}">
                <a16:creationId xmlns:a16="http://schemas.microsoft.com/office/drawing/2014/main" id="{4D486EC0-E04D-95E7-B43B-C60E6CC60E85}"/>
              </a:ext>
            </a:extLst>
          </p:cNvPr>
          <p:cNvGraphicFramePr>
            <a:graphicFrameLocks noGrp="1"/>
          </p:cNvGraphicFramePr>
          <p:nvPr>
            <p:extLst>
              <p:ext uri="{D42A27DB-BD31-4B8C-83A1-F6EECF244321}">
                <p14:modId xmlns:p14="http://schemas.microsoft.com/office/powerpoint/2010/main" val="1803168028"/>
              </p:ext>
            </p:extLst>
          </p:nvPr>
        </p:nvGraphicFramePr>
        <p:xfrm>
          <a:off x="2627073" y="1488822"/>
          <a:ext cx="8911687" cy="4224996"/>
        </p:xfrm>
        <a:graphic>
          <a:graphicData uri="http://schemas.openxmlformats.org/drawingml/2006/table">
            <a:tbl>
              <a:tblPr firstRow="1" bandRow="1">
                <a:tableStyleId>{5C22544A-7EE6-4342-B048-85BDC9FD1C3A}</a:tableStyleId>
              </a:tblPr>
              <a:tblGrid>
                <a:gridCol w="1019515">
                  <a:extLst>
                    <a:ext uri="{9D8B030D-6E8A-4147-A177-3AD203B41FA5}">
                      <a16:colId xmlns:a16="http://schemas.microsoft.com/office/drawing/2014/main" val="3061002685"/>
                    </a:ext>
                  </a:extLst>
                </a:gridCol>
                <a:gridCol w="3080928">
                  <a:extLst>
                    <a:ext uri="{9D8B030D-6E8A-4147-A177-3AD203B41FA5}">
                      <a16:colId xmlns:a16="http://schemas.microsoft.com/office/drawing/2014/main" val="3308928935"/>
                    </a:ext>
                  </a:extLst>
                </a:gridCol>
                <a:gridCol w="2583322">
                  <a:extLst>
                    <a:ext uri="{9D8B030D-6E8A-4147-A177-3AD203B41FA5}">
                      <a16:colId xmlns:a16="http://schemas.microsoft.com/office/drawing/2014/main" val="3184326738"/>
                    </a:ext>
                  </a:extLst>
                </a:gridCol>
                <a:gridCol w="2227922">
                  <a:extLst>
                    <a:ext uri="{9D8B030D-6E8A-4147-A177-3AD203B41FA5}">
                      <a16:colId xmlns:a16="http://schemas.microsoft.com/office/drawing/2014/main" val="3980447352"/>
                    </a:ext>
                  </a:extLst>
                </a:gridCol>
              </a:tblGrid>
              <a:tr h="616519">
                <a:tc>
                  <a:txBody>
                    <a:bodyPr/>
                    <a:lstStyle/>
                    <a:p>
                      <a:pPr algn="ctr"/>
                      <a:r>
                        <a:rPr lang="en-IN" dirty="0"/>
                        <a:t>Sr. No.</a:t>
                      </a:r>
                    </a:p>
                  </a:txBody>
                  <a:tcPr/>
                </a:tc>
                <a:tc>
                  <a:txBody>
                    <a:bodyPr/>
                    <a:lstStyle/>
                    <a:p>
                      <a:pPr algn="ctr"/>
                      <a:r>
                        <a:rPr lang="en-IN" dirty="0"/>
                        <a:t>Name of Solution/System</a:t>
                      </a:r>
                    </a:p>
                  </a:txBody>
                  <a:tcPr/>
                </a:tc>
                <a:tc>
                  <a:txBody>
                    <a:bodyPr/>
                    <a:lstStyle/>
                    <a:p>
                      <a:pPr algn="ctr"/>
                      <a:r>
                        <a:rPr lang="en-IN" dirty="0"/>
                        <a:t>Features</a:t>
                      </a:r>
                    </a:p>
                  </a:txBody>
                  <a:tcPr/>
                </a:tc>
                <a:tc>
                  <a:txBody>
                    <a:bodyPr/>
                    <a:lstStyle/>
                    <a:p>
                      <a:pPr algn="ctr"/>
                      <a:r>
                        <a:rPr lang="en-IN" dirty="0"/>
                        <a:t>Limitations/</a:t>
                      </a:r>
                    </a:p>
                    <a:p>
                      <a:pPr algn="ctr"/>
                      <a:r>
                        <a:rPr lang="en-IN" dirty="0"/>
                        <a:t>Drawbacks</a:t>
                      </a:r>
                    </a:p>
                  </a:txBody>
                  <a:tcPr/>
                </a:tc>
                <a:extLst>
                  <a:ext uri="{0D108BD9-81ED-4DB2-BD59-A6C34878D82A}">
                    <a16:rowId xmlns:a16="http://schemas.microsoft.com/office/drawing/2014/main" val="4291405766"/>
                  </a:ext>
                </a:extLst>
              </a:tr>
              <a:tr h="1144964">
                <a:tc>
                  <a:txBody>
                    <a:bodyPr/>
                    <a:lstStyle/>
                    <a:p>
                      <a:pPr algn="ctr"/>
                      <a:r>
                        <a:rPr lang="en-GB" dirty="0"/>
                        <a:t>1.</a:t>
                      </a:r>
                      <a:endParaRPr lang="en-IN" dirty="0"/>
                    </a:p>
                  </a:txBody>
                  <a:tcPr/>
                </a:tc>
                <a:tc>
                  <a:txBody>
                    <a:bodyPr/>
                    <a:lstStyle/>
                    <a:p>
                      <a:pPr algn="ctr"/>
                      <a:r>
                        <a:rPr lang="en-IN" dirty="0" err="1"/>
                        <a:t>Sketchfab</a:t>
                      </a:r>
                      <a:r>
                        <a:rPr lang="en-IN" dirty="0"/>
                        <a:t> (Cultural Heritage)</a:t>
                      </a:r>
                    </a:p>
                  </a:txBody>
                  <a:tcPr/>
                </a:tc>
                <a:tc>
                  <a:txBody>
                    <a:bodyPr/>
                    <a:lstStyle/>
                    <a:p>
                      <a:pPr algn="ctr"/>
                      <a:r>
                        <a:rPr lang="en-GB" dirty="0"/>
                        <a:t>Allows users to explore 3D models of historical artifacts and sites</a:t>
                      </a:r>
                      <a:endParaRPr lang="en-IN" dirty="0"/>
                    </a:p>
                  </a:txBody>
                  <a:tcPr/>
                </a:tc>
                <a:tc>
                  <a:txBody>
                    <a:bodyPr/>
                    <a:lstStyle/>
                    <a:p>
                      <a:pPr algn="ctr"/>
                      <a:r>
                        <a:rPr lang="en-GB" dirty="0"/>
                        <a:t>No integrated historical storytelling or AR experience</a:t>
                      </a:r>
                      <a:endParaRPr lang="en-IN" dirty="0"/>
                    </a:p>
                  </a:txBody>
                  <a:tcPr/>
                </a:tc>
                <a:extLst>
                  <a:ext uri="{0D108BD9-81ED-4DB2-BD59-A6C34878D82A}">
                    <a16:rowId xmlns:a16="http://schemas.microsoft.com/office/drawing/2014/main" val="2750208946"/>
                  </a:ext>
                </a:extLst>
              </a:tr>
              <a:tr h="1064096">
                <a:tc>
                  <a:txBody>
                    <a:bodyPr/>
                    <a:lstStyle/>
                    <a:p>
                      <a:pPr algn="ctr"/>
                      <a:r>
                        <a:rPr lang="en-GB" dirty="0"/>
                        <a:t>2.</a:t>
                      </a:r>
                    </a:p>
                    <a:p>
                      <a:pPr algn="ctr"/>
                      <a:endParaRPr lang="en-GB" dirty="0"/>
                    </a:p>
                    <a:p>
                      <a:pPr algn="ctr"/>
                      <a:endParaRPr lang="en-GB" dirty="0"/>
                    </a:p>
                  </a:txBody>
                  <a:tcPr/>
                </a:tc>
                <a:tc>
                  <a:txBody>
                    <a:bodyPr/>
                    <a:lstStyle/>
                    <a:p>
                      <a:pPr algn="ctr"/>
                      <a:r>
                        <a:rPr lang="en-IN" dirty="0" err="1"/>
                        <a:t>HistoryView</a:t>
                      </a:r>
                      <a:r>
                        <a:rPr lang="en-IN" dirty="0"/>
                        <a:t> VR</a:t>
                      </a:r>
                    </a:p>
                  </a:txBody>
                  <a:tcPr/>
                </a:tc>
                <a:tc>
                  <a:txBody>
                    <a:bodyPr/>
                    <a:lstStyle/>
                    <a:p>
                      <a:pPr algn="ctr"/>
                      <a:r>
                        <a:rPr lang="en-GB" dirty="0"/>
                        <a:t>Provides virtual reality tours of historical places</a:t>
                      </a:r>
                      <a:endParaRPr lang="en-IN" dirty="0"/>
                    </a:p>
                  </a:txBody>
                  <a:tcPr/>
                </a:tc>
                <a:tc>
                  <a:txBody>
                    <a:bodyPr/>
                    <a:lstStyle/>
                    <a:p>
                      <a:pPr algn="ctr"/>
                      <a:r>
                        <a:rPr lang="en-GB" dirty="0"/>
                        <a:t>Limited 3D reconstructions</a:t>
                      </a:r>
                    </a:p>
                  </a:txBody>
                  <a:tcPr/>
                </a:tc>
                <a:extLst>
                  <a:ext uri="{0D108BD9-81ED-4DB2-BD59-A6C34878D82A}">
                    <a16:rowId xmlns:a16="http://schemas.microsoft.com/office/drawing/2014/main" val="1395239330"/>
                  </a:ext>
                </a:extLst>
              </a:tr>
              <a:tr h="1332100">
                <a:tc>
                  <a:txBody>
                    <a:bodyPr/>
                    <a:lstStyle/>
                    <a:p>
                      <a:pPr algn="ctr"/>
                      <a:r>
                        <a:rPr lang="en-GB" dirty="0"/>
                        <a:t>3.</a:t>
                      </a:r>
                    </a:p>
                    <a:p>
                      <a:pPr algn="ctr"/>
                      <a:endParaRPr lang="en-GB" dirty="0"/>
                    </a:p>
                    <a:p>
                      <a:pPr algn="ctr"/>
                      <a:endParaRPr lang="en-GB" dirty="0"/>
                    </a:p>
                    <a:p>
                      <a:pPr algn="ctr"/>
                      <a:endParaRPr lang="en-GB" dirty="0"/>
                    </a:p>
                  </a:txBody>
                  <a:tcPr/>
                </a:tc>
                <a:tc>
                  <a:txBody>
                    <a:bodyPr/>
                    <a:lstStyle/>
                    <a:p>
                      <a:pPr algn="ctr"/>
                      <a:r>
                        <a:rPr lang="en-IN" dirty="0"/>
                        <a:t>National Geographic AR Experiences</a:t>
                      </a:r>
                    </a:p>
                  </a:txBody>
                  <a:tcPr/>
                </a:tc>
                <a:tc>
                  <a:txBody>
                    <a:bodyPr/>
                    <a:lstStyle/>
                    <a:p>
                      <a:pPr algn="ctr"/>
                      <a:r>
                        <a:rPr lang="en-IN" dirty="0"/>
                        <a:t>Offers interactive 3D models of ancient structures via mobile devices</a:t>
                      </a:r>
                    </a:p>
                  </a:txBody>
                  <a:tcPr/>
                </a:tc>
                <a:tc>
                  <a:txBody>
                    <a:bodyPr/>
                    <a:lstStyle/>
                    <a:p>
                      <a:pPr algn="ctr"/>
                      <a:r>
                        <a:rPr lang="en-GB" dirty="0"/>
                        <a:t>Not a full-fledged platform for historical site exploration</a:t>
                      </a:r>
                    </a:p>
                  </a:txBody>
                  <a:tcPr/>
                </a:tc>
                <a:extLst>
                  <a:ext uri="{0D108BD9-81ED-4DB2-BD59-A6C34878D82A}">
                    <a16:rowId xmlns:a16="http://schemas.microsoft.com/office/drawing/2014/main" val="2850866531"/>
                  </a:ext>
                </a:extLst>
              </a:tr>
            </a:tbl>
          </a:graphicData>
        </a:graphic>
      </p:graphicFrame>
    </p:spTree>
    <p:extLst>
      <p:ext uri="{BB962C8B-B14F-4D97-AF65-F5344CB8AC3E}">
        <p14:creationId xmlns:p14="http://schemas.microsoft.com/office/powerpoint/2010/main" val="18856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2005097" y="547910"/>
            <a:ext cx="8911687" cy="1280890"/>
          </a:xfrm>
        </p:spPr>
        <p:txBody>
          <a:bodyPr/>
          <a:lstStyle/>
          <a:p>
            <a:r>
              <a:rPr lang="en-IN" dirty="0"/>
              <a:t>3. Problem Statement</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005097" y="1378699"/>
            <a:ext cx="9457560" cy="4959455"/>
          </a:xfrm>
        </p:spPr>
        <p:txBody>
          <a:bodyPr>
            <a:normAutofit/>
          </a:bodyPr>
          <a:lstStyle/>
          <a:p>
            <a:pPr>
              <a:buFont typeface="Wingdings" pitchFamily="2" charset="2"/>
              <a:buChar char="Ø"/>
            </a:pPr>
            <a:r>
              <a:rPr lang="en-GB" dirty="0"/>
              <a:t>Traditional historical learning methods do not provide an immersive, engaging, and easily accessible way to visualize ancient architecture and environments. Many modern solutions rely on VR headsets or specialized software, making them inaccessible to a broader audience.</a:t>
            </a:r>
          </a:p>
          <a:p>
            <a:pPr>
              <a:buFont typeface="Wingdings" pitchFamily="2" charset="2"/>
              <a:buChar char="Ø"/>
            </a:pPr>
            <a:r>
              <a:rPr lang="en-GB" dirty="0"/>
              <a:t>There is a need for a web-based platform that offers interactive 3D models of historical sites, allowing users to explore these locations as they originally appeared—without requiring additional hardware or applications. The Historica aims to bridge this gap by providing realistic, interactive 3D AR models of ancient landmarks, combined with historical descriptions and insights, making history more engaging, accessible, and educational for students, researchers, and history enthusiasts worldwide.</a:t>
            </a:r>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5</a:t>
            </a:fld>
            <a:endParaRPr lang="en-IN" dirty="0"/>
          </a:p>
        </p:txBody>
      </p:sp>
    </p:spTree>
    <p:extLst>
      <p:ext uri="{BB962C8B-B14F-4D97-AF65-F5344CB8AC3E}">
        <p14:creationId xmlns:p14="http://schemas.microsoft.com/office/powerpoint/2010/main" val="288595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1983325" y="547909"/>
            <a:ext cx="8911687" cy="1280890"/>
          </a:xfrm>
        </p:spPr>
        <p:txBody>
          <a:bodyPr/>
          <a:lstStyle/>
          <a:p>
            <a:r>
              <a:rPr lang="en-IN" dirty="0"/>
              <a:t>4. Proposed Solution</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1983324" y="1324270"/>
            <a:ext cx="9675275" cy="5379010"/>
          </a:xfrm>
        </p:spPr>
        <p:txBody>
          <a:bodyPr>
            <a:normAutofit/>
          </a:bodyPr>
          <a:lstStyle/>
          <a:p>
            <a:pPr>
              <a:buFont typeface="Wingdings" pitchFamily="2" charset="2"/>
              <a:buChar char="Ø"/>
            </a:pPr>
            <a:r>
              <a:rPr lang="en-GB" sz="1900" dirty="0"/>
              <a:t>The </a:t>
            </a:r>
            <a:r>
              <a:rPr lang="en-GB" sz="2000" dirty="0"/>
              <a:t> Historica </a:t>
            </a:r>
            <a:r>
              <a:rPr lang="en-GB" sz="1900" dirty="0"/>
              <a:t>is a web-based platform that provides interactive 3D models of historical sites, allowing users to visualize how these landmarks appeared in ancient times. Unlike existing solutions that require VR headsets or mobile apps, this website is accessible directly from a browser, making history engaging, immersive, and widely available.</a:t>
            </a:r>
          </a:p>
          <a:p>
            <a:pPr>
              <a:buFont typeface="Wingdings" pitchFamily="2" charset="2"/>
              <a:buChar char="Ø"/>
            </a:pPr>
            <a:r>
              <a:rPr lang="en-GB" sz="1900" dirty="0"/>
              <a:t>Key Features:</a:t>
            </a:r>
          </a:p>
          <a:p>
            <a:pPr>
              <a:buFont typeface="Arial" panose="020B0604020202020204" pitchFamily="34" charset="0"/>
              <a:buChar char="•"/>
            </a:pPr>
            <a:r>
              <a:rPr lang="en-GB" sz="1900" dirty="0"/>
              <a:t>High-Quality 3D Reconstructions – Users can explore detailed, historically accurate models with zoom, rotation, and annotations.</a:t>
            </a:r>
          </a:p>
          <a:p>
            <a:pPr>
              <a:buFont typeface="Arial" panose="020B0604020202020204" pitchFamily="34" charset="0"/>
              <a:buChar char="•"/>
            </a:pPr>
            <a:r>
              <a:rPr lang="en-GB" sz="1900" dirty="0"/>
              <a:t>Web-Based AR Integration – Supports browser-based AR without extra applications.</a:t>
            </a:r>
          </a:p>
          <a:p>
            <a:pPr>
              <a:buFont typeface="Arial" panose="020B0604020202020204" pitchFamily="34" charset="0"/>
              <a:buChar char="•"/>
            </a:pPr>
            <a:r>
              <a:rPr lang="en-GB" sz="1900" dirty="0"/>
              <a:t>Informative Historical Context – Clickable annotations provide historical facts and architectural details.</a:t>
            </a:r>
          </a:p>
          <a:p>
            <a:pPr>
              <a:buFont typeface="Arial" panose="020B0604020202020204" pitchFamily="34" charset="0"/>
              <a:buChar char="•"/>
            </a:pPr>
            <a:r>
              <a:rPr lang="en-GB" sz="1900" dirty="0"/>
              <a:t>Accessibility &amp; Preservation – No special hardware required, ensuring global reach and cultural heritage preservation.</a:t>
            </a:r>
          </a:p>
          <a:p>
            <a:endParaRPr lang="en-IN" sz="2200" dirty="0"/>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6</a:t>
            </a:fld>
            <a:endParaRPr lang="en-IN" dirty="0"/>
          </a:p>
        </p:txBody>
      </p:sp>
    </p:spTree>
    <p:extLst>
      <p:ext uri="{BB962C8B-B14F-4D97-AF65-F5344CB8AC3E}">
        <p14:creationId xmlns:p14="http://schemas.microsoft.com/office/powerpoint/2010/main" val="2841163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1830925" y="519120"/>
            <a:ext cx="8911687" cy="1280890"/>
          </a:xfrm>
        </p:spPr>
        <p:txBody>
          <a:bodyPr/>
          <a:lstStyle/>
          <a:p>
            <a:r>
              <a:rPr lang="en-IN" dirty="0"/>
              <a:t>5. Objectives</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1830925" y="1280160"/>
            <a:ext cx="9871218" cy="4592446"/>
          </a:xfrm>
        </p:spPr>
        <p:txBody>
          <a:bodyPr/>
          <a:lstStyle/>
          <a:p>
            <a:pPr marL="0" indent="0">
              <a:buNone/>
            </a:pPr>
            <a:endParaRPr lang="en-IN" b="1" u="sng" dirty="0"/>
          </a:p>
          <a:p>
            <a:pPr marL="0" indent="0">
              <a:buNone/>
            </a:pPr>
            <a:endParaRPr lang="en-IN" b="1" u="sng" dirty="0"/>
          </a:p>
          <a:p>
            <a:pPr marL="0" indent="0">
              <a:buNone/>
            </a:pPr>
            <a:endParaRPr lang="en-IN" b="1" u="sng" dirty="0"/>
          </a:p>
          <a:p>
            <a:pPr marL="0" indent="0">
              <a:buNone/>
            </a:pPr>
            <a:endParaRPr lang="en-IN" b="1" u="sng" dirty="0"/>
          </a:p>
          <a:p>
            <a:pPr marL="0" indent="0">
              <a:buNone/>
            </a:pPr>
            <a:endParaRPr lang="en-IN" b="1" u="sng" dirty="0"/>
          </a:p>
          <a:p>
            <a:pPr marL="0" indent="0">
              <a:buNone/>
            </a:pPr>
            <a:endParaRPr lang="en-IN" b="1" u="sng" dirty="0"/>
          </a:p>
          <a:p>
            <a:pPr marL="0" indent="0">
              <a:buNone/>
            </a:pPr>
            <a:endParaRPr lang="en-IN" b="1" u="sng" dirty="0"/>
          </a:p>
          <a:p>
            <a:pPr marL="0" indent="0">
              <a:buNone/>
            </a:pPr>
            <a:endParaRPr lang="en-IN" b="1" u="sng" dirty="0"/>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7</a:t>
            </a:fld>
            <a:endParaRPr lang="en-IN" dirty="0"/>
          </a:p>
        </p:txBody>
      </p:sp>
      <p:sp>
        <p:nvSpPr>
          <p:cNvPr id="6" name="Rectangle 2">
            <a:extLst>
              <a:ext uri="{FF2B5EF4-FFF2-40B4-BE49-F238E27FC236}">
                <a16:creationId xmlns:a16="http://schemas.microsoft.com/office/drawing/2014/main" id="{0FD4ECE7-DD37-FB67-A5BC-47028777C4DF}"/>
              </a:ext>
            </a:extLst>
          </p:cNvPr>
          <p:cNvSpPr>
            <a:spLocks noChangeArrowheads="1"/>
          </p:cNvSpPr>
          <p:nvPr/>
        </p:nvSpPr>
        <p:spPr bwMode="auto">
          <a:xfrm>
            <a:off x="1711451" y="1593944"/>
            <a:ext cx="915063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
                <a:srgbClr val="C00000"/>
              </a:buClr>
              <a:buSzTx/>
              <a:buFont typeface="Wingdings" pitchFamily="2" charset="2"/>
              <a:buChar char="Ø"/>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
                <a:srgbClr val="C00000"/>
              </a:buClr>
              <a:buSzTx/>
              <a:buFont typeface="Wingdings"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rPr>
              <a:t>Develop high-quality 3D models of historical sites to showcase their original appearance.</a:t>
            </a:r>
          </a:p>
          <a:p>
            <a:pPr marL="285750" marR="0" lvl="0" indent="-285750" algn="l" defTabSz="914400" rtl="0" eaLnBrk="0" fontAlgn="base" latinLnBrk="0" hangingPunct="0">
              <a:lnSpc>
                <a:spcPct val="100000"/>
              </a:lnSpc>
              <a:spcBef>
                <a:spcPct val="0"/>
              </a:spcBef>
              <a:spcAft>
                <a:spcPct val="0"/>
              </a:spcAft>
              <a:buClr>
                <a:srgbClr val="C00000"/>
              </a:buClr>
              <a:buSzTx/>
              <a:buFont typeface="Wingdings"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rPr>
              <a:t>Implement web-based Augmented Reality (AR) for immersive exploration without extra software.</a:t>
            </a:r>
          </a:p>
          <a:p>
            <a:pPr marL="285750" marR="0" lvl="0" indent="-285750" algn="l" defTabSz="914400" rtl="0" eaLnBrk="0" fontAlgn="base" latinLnBrk="0" hangingPunct="0">
              <a:lnSpc>
                <a:spcPct val="100000"/>
              </a:lnSpc>
              <a:spcBef>
                <a:spcPct val="0"/>
              </a:spcBef>
              <a:spcAft>
                <a:spcPct val="0"/>
              </a:spcAft>
              <a:buClr>
                <a:srgbClr val="C00000"/>
              </a:buClr>
              <a:buSzTx/>
              <a:buFont typeface="Wingdings"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rPr>
              <a:t>Provide detailed historical descriptions and annotations to enhance learning.</a:t>
            </a:r>
          </a:p>
          <a:p>
            <a:pPr marL="285750" marR="0" lvl="0" indent="-285750" algn="l" defTabSz="914400" rtl="0" eaLnBrk="0" fontAlgn="base" latinLnBrk="0" hangingPunct="0">
              <a:lnSpc>
                <a:spcPct val="100000"/>
              </a:lnSpc>
              <a:spcBef>
                <a:spcPct val="0"/>
              </a:spcBef>
              <a:spcAft>
                <a:spcPct val="0"/>
              </a:spcAft>
              <a:buClr>
                <a:srgbClr val="C00000"/>
              </a:buClr>
              <a:buSzTx/>
              <a:buFont typeface="Wingdings"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rPr>
              <a:t>Ensure accessibility on all web browsers without requiring VR headsets.</a:t>
            </a:r>
          </a:p>
          <a:p>
            <a:pPr marL="285750" marR="0" lvl="0" indent="-285750" algn="l" defTabSz="914400" rtl="0" eaLnBrk="0" fontAlgn="base" latinLnBrk="0" hangingPunct="0">
              <a:lnSpc>
                <a:spcPct val="100000"/>
              </a:lnSpc>
              <a:spcBef>
                <a:spcPct val="0"/>
              </a:spcBef>
              <a:spcAft>
                <a:spcPct val="0"/>
              </a:spcAft>
              <a:buClr>
                <a:srgbClr val="C00000"/>
              </a:buClr>
              <a:buSzTx/>
              <a:buFont typeface="Wingdings"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rPr>
              <a:t>Digitally preserve cultural heritage for future generations. </a:t>
            </a:r>
          </a:p>
        </p:txBody>
      </p:sp>
    </p:spTree>
    <p:extLst>
      <p:ext uri="{BB962C8B-B14F-4D97-AF65-F5344CB8AC3E}">
        <p14:creationId xmlns:p14="http://schemas.microsoft.com/office/powerpoint/2010/main" val="870974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1972440" y="482596"/>
            <a:ext cx="8911687" cy="1280890"/>
          </a:xfrm>
        </p:spPr>
        <p:txBody>
          <a:bodyPr/>
          <a:lstStyle/>
          <a:p>
            <a:r>
              <a:rPr lang="en-IN" dirty="0"/>
              <a:t>6. Block Diagram</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1972440" y="1123041"/>
            <a:ext cx="8915400" cy="4363278"/>
          </a:xfrm>
        </p:spPr>
        <p:txBody>
          <a:bodyPr/>
          <a:lstStyle/>
          <a:p>
            <a:pPr marL="0" indent="0">
              <a:buNone/>
            </a:pPr>
            <a:endParaRPr lang="en-IN" dirty="0"/>
          </a:p>
          <a:p>
            <a:pPr>
              <a:buNone/>
            </a:pPr>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8</a:t>
            </a:fld>
            <a:endParaRPr lang="en-IN" dirty="0"/>
          </a:p>
        </p:txBody>
      </p:sp>
      <p:pic>
        <p:nvPicPr>
          <p:cNvPr id="6148" name="Picture 4"/>
          <p:cNvPicPr>
            <a:picLocks noChangeAspect="1" noChangeArrowheads="1"/>
          </p:cNvPicPr>
          <p:nvPr/>
        </p:nvPicPr>
        <p:blipFill>
          <a:blip r:embed="rId2"/>
          <a:srcRect/>
          <a:stretch>
            <a:fillRect/>
          </a:stretch>
        </p:blipFill>
        <p:spPr bwMode="auto">
          <a:xfrm>
            <a:off x="2502469" y="1371681"/>
            <a:ext cx="7717091" cy="4843919"/>
          </a:xfrm>
          <a:prstGeom prst="rect">
            <a:avLst/>
          </a:prstGeom>
          <a:noFill/>
          <a:ln w="9525">
            <a:noFill/>
            <a:miter lim="800000"/>
            <a:headEnd/>
            <a:tailEnd/>
          </a:ln>
          <a:effectLst/>
        </p:spPr>
      </p:pic>
      <p:sp>
        <p:nvSpPr>
          <p:cNvPr id="6" name="TextBox 5">
            <a:extLst>
              <a:ext uri="{FF2B5EF4-FFF2-40B4-BE49-F238E27FC236}">
                <a16:creationId xmlns:a16="http://schemas.microsoft.com/office/drawing/2014/main" id="{90C118EF-76C4-0B92-8E26-956DE21AB657}"/>
              </a:ext>
            </a:extLst>
          </p:cNvPr>
          <p:cNvSpPr txBox="1"/>
          <p:nvPr/>
        </p:nvSpPr>
        <p:spPr>
          <a:xfrm>
            <a:off x="5138507" y="6338155"/>
            <a:ext cx="3106941" cy="369332"/>
          </a:xfrm>
          <a:prstGeom prst="rect">
            <a:avLst/>
          </a:prstGeom>
          <a:noFill/>
        </p:spPr>
        <p:txBody>
          <a:bodyPr wrap="none" rtlCol="0">
            <a:spAutoFit/>
          </a:bodyPr>
          <a:lstStyle/>
          <a:p>
            <a:r>
              <a:rPr lang="en-US" dirty="0"/>
              <a:t>Fig 6.1 Work Flow Diagram</a:t>
            </a:r>
          </a:p>
        </p:txBody>
      </p:sp>
    </p:spTree>
    <p:extLst>
      <p:ext uri="{BB962C8B-B14F-4D97-AF65-F5344CB8AC3E}">
        <p14:creationId xmlns:p14="http://schemas.microsoft.com/office/powerpoint/2010/main" val="3917225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AB2A-E98B-C788-EA69-A4194BC6F17C}"/>
              </a:ext>
            </a:extLst>
          </p:cNvPr>
          <p:cNvSpPr>
            <a:spLocks noGrp="1"/>
          </p:cNvSpPr>
          <p:nvPr>
            <p:ph type="title"/>
          </p:nvPr>
        </p:nvSpPr>
        <p:spPr>
          <a:xfrm>
            <a:off x="2084925" y="613950"/>
            <a:ext cx="8911687" cy="1280890"/>
          </a:xfrm>
        </p:spPr>
        <p:txBody>
          <a:bodyPr/>
          <a:lstStyle/>
          <a:p>
            <a:r>
              <a:rPr lang="en-US" dirty="0"/>
              <a:t>7. Key Features</a:t>
            </a:r>
            <a:endParaRPr lang="en-IN" dirty="0"/>
          </a:p>
        </p:txBody>
      </p:sp>
      <p:sp>
        <p:nvSpPr>
          <p:cNvPr id="3" name="Content Placeholder 2">
            <a:extLst>
              <a:ext uri="{FF2B5EF4-FFF2-40B4-BE49-F238E27FC236}">
                <a16:creationId xmlns:a16="http://schemas.microsoft.com/office/drawing/2014/main" id="{30AB6BDA-30A9-533E-45E7-BABC6D5E1E53}"/>
              </a:ext>
            </a:extLst>
          </p:cNvPr>
          <p:cNvSpPr>
            <a:spLocks noGrp="1"/>
          </p:cNvSpPr>
          <p:nvPr>
            <p:ph idx="1"/>
          </p:nvPr>
        </p:nvSpPr>
        <p:spPr>
          <a:xfrm>
            <a:off x="2081212" y="1971040"/>
            <a:ext cx="8915400" cy="3777622"/>
          </a:xfrm>
        </p:spPr>
        <p:txBody>
          <a:bodyPr>
            <a:normAutofit fontScale="92500" lnSpcReduction="20000"/>
          </a:bodyPr>
          <a:lstStyle/>
          <a:p>
            <a:r>
              <a:rPr lang="en-IN" dirty="0"/>
              <a:t>Time Travel in AR: Explore any historical event 3D</a:t>
            </a:r>
          </a:p>
          <a:p>
            <a:r>
              <a:rPr lang="en-IN" dirty="0"/>
              <a:t> Generative  AI Scene Reconstructions: Realistically recreate historical scenes with AI based </a:t>
            </a:r>
          </a:p>
          <a:p>
            <a:r>
              <a:rPr lang="en-IN" dirty="0"/>
              <a:t>Character and Object Interaction: Users can interact (Chat with Ai Avtar) with historical figures and objects to gain detailed insights. </a:t>
            </a:r>
          </a:p>
          <a:p>
            <a:r>
              <a:rPr lang="en-IN" dirty="0"/>
              <a:t>Historical Simulation Mode: Simulate alternate histories and explore "WhatIf" scenarios using AI. </a:t>
            </a:r>
          </a:p>
          <a:p>
            <a:r>
              <a:rPr lang="en-IN" dirty="0"/>
              <a:t>Quantum History Mode: Explore alternate historical realities and parallel timelines. </a:t>
            </a:r>
          </a:p>
          <a:p>
            <a:r>
              <a:rPr lang="en-IN" dirty="0"/>
              <a:t>AI-Reconstructed Lost Worlds: Experience extinct ecosystems and species in prehistoric times. </a:t>
            </a:r>
          </a:p>
        </p:txBody>
      </p:sp>
      <p:sp>
        <p:nvSpPr>
          <p:cNvPr id="4" name="Slide Number Placeholder 3">
            <a:extLst>
              <a:ext uri="{FF2B5EF4-FFF2-40B4-BE49-F238E27FC236}">
                <a16:creationId xmlns:a16="http://schemas.microsoft.com/office/drawing/2014/main" id="{3DDDF220-BFF2-A4D6-729A-083042111BFE}"/>
              </a:ext>
            </a:extLst>
          </p:cNvPr>
          <p:cNvSpPr>
            <a:spLocks noGrp="1"/>
          </p:cNvSpPr>
          <p:nvPr>
            <p:ph type="sldNum" sz="quarter" idx="12"/>
          </p:nvPr>
        </p:nvSpPr>
        <p:spPr/>
        <p:txBody>
          <a:bodyPr/>
          <a:lstStyle/>
          <a:p>
            <a:fld id="{A575ECA5-96F4-415B-9B7B-F5BEE4B08E09}" type="slidenum">
              <a:rPr lang="en-IN" smtClean="0"/>
              <a:pPr/>
              <a:t>9</a:t>
            </a:fld>
            <a:endParaRPr lang="en-IN" dirty="0"/>
          </a:p>
        </p:txBody>
      </p:sp>
    </p:spTree>
    <p:extLst>
      <p:ext uri="{BB962C8B-B14F-4D97-AF65-F5344CB8AC3E}">
        <p14:creationId xmlns:p14="http://schemas.microsoft.com/office/powerpoint/2010/main" val="860750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06765-3414-4DDE-3239-17DF6CF5E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6278F-720A-5AD5-CE82-8991C4CB0FA5}"/>
              </a:ext>
            </a:extLst>
          </p:cNvPr>
          <p:cNvSpPr>
            <a:spLocks noGrp="1"/>
          </p:cNvSpPr>
          <p:nvPr>
            <p:ph type="title"/>
          </p:nvPr>
        </p:nvSpPr>
        <p:spPr>
          <a:xfrm>
            <a:off x="1852696" y="537025"/>
            <a:ext cx="8911687" cy="1280890"/>
          </a:xfrm>
        </p:spPr>
        <p:txBody>
          <a:bodyPr/>
          <a:lstStyle/>
          <a:p>
            <a:r>
              <a:rPr lang="en-US" dirty="0"/>
              <a:t>8. S</a:t>
            </a:r>
            <a:r>
              <a:rPr lang="en-IN" dirty="0" err="1"/>
              <a:t>ocial</a:t>
            </a:r>
            <a:r>
              <a:rPr lang="en-IN" dirty="0"/>
              <a:t> Impact &amp; Application</a:t>
            </a:r>
          </a:p>
        </p:txBody>
      </p:sp>
      <p:sp>
        <p:nvSpPr>
          <p:cNvPr id="3" name="Content Placeholder 2">
            <a:extLst>
              <a:ext uri="{FF2B5EF4-FFF2-40B4-BE49-F238E27FC236}">
                <a16:creationId xmlns:a16="http://schemas.microsoft.com/office/drawing/2014/main" id="{5DC978AF-0E94-635C-BCE5-34CFDA8EDF75}"/>
              </a:ext>
            </a:extLst>
          </p:cNvPr>
          <p:cNvSpPr>
            <a:spLocks noGrp="1"/>
          </p:cNvSpPr>
          <p:nvPr>
            <p:ph idx="1"/>
          </p:nvPr>
        </p:nvSpPr>
        <p:spPr>
          <a:xfrm>
            <a:off x="1852696" y="1367814"/>
            <a:ext cx="8915400" cy="4363278"/>
          </a:xfrm>
        </p:spPr>
        <p:txBody>
          <a:bodyPr/>
          <a:lstStyle/>
          <a:p>
            <a:pPr>
              <a:buFont typeface="Wingdings" pitchFamily="2" charset="2"/>
              <a:buChar char="Ø"/>
            </a:pPr>
            <a:r>
              <a:rPr lang="en-GB" b="1" dirty="0"/>
              <a:t>Educational Tool:</a:t>
            </a:r>
            <a:r>
              <a:rPr lang="en-GB" dirty="0"/>
              <a:t> Enhances classroom learning with interactive 3D models and detailed historical narratives.</a:t>
            </a:r>
            <a:endParaRPr lang="en-IN" dirty="0"/>
          </a:p>
          <a:p>
            <a:pPr>
              <a:buFont typeface="Wingdings" pitchFamily="2" charset="2"/>
              <a:buChar char="Ø"/>
            </a:pPr>
            <a:r>
              <a:rPr lang="en-GB" b="1" dirty="0"/>
              <a:t>Virtual Tourism:</a:t>
            </a:r>
            <a:r>
              <a:rPr lang="en-GB" dirty="0"/>
              <a:t> Enables remote exploration of ancient</a:t>
            </a:r>
          </a:p>
          <a:p>
            <a:pPr marL="0" indent="0">
              <a:buNone/>
            </a:pPr>
            <a:r>
              <a:rPr lang="en-GB" dirty="0"/>
              <a:t>     sites, providing immersive visualizations for </a:t>
            </a:r>
            <a:r>
              <a:rPr lang="en-GB" dirty="0" err="1"/>
              <a:t>travelers</a:t>
            </a:r>
            <a:r>
              <a:rPr lang="en-GB" dirty="0"/>
              <a:t>.</a:t>
            </a:r>
            <a:endParaRPr lang="en-IN" dirty="0"/>
          </a:p>
          <a:p>
            <a:pPr>
              <a:buFont typeface="Wingdings" pitchFamily="2" charset="2"/>
              <a:buChar char="Ø"/>
            </a:pPr>
            <a:r>
              <a:rPr lang="en-GB" b="1" dirty="0"/>
              <a:t>Research &amp; Preservation:</a:t>
            </a:r>
            <a:r>
              <a:rPr lang="en-GB" dirty="0"/>
              <a:t> Serves as a digital archive for historians and archaeologists, preserving cultural heritage.</a:t>
            </a:r>
          </a:p>
          <a:p>
            <a:pPr>
              <a:buFont typeface="Wingdings" pitchFamily="2" charset="2"/>
              <a:buChar char="Ø"/>
            </a:pPr>
            <a:r>
              <a:rPr lang="en-GB" b="1" dirty="0"/>
              <a:t>Public Engagement:</a:t>
            </a:r>
            <a:r>
              <a:rPr lang="en-GB" dirty="0"/>
              <a:t> Offers an accessible platform for history enthusiasts to explore and learn about ancient civilizations.</a:t>
            </a:r>
            <a:endParaRPr lang="en-IN" dirty="0"/>
          </a:p>
          <a:p>
            <a:pPr>
              <a:buFont typeface="Wingdings" pitchFamily="2" charset="2"/>
              <a:buChar char="Ø"/>
            </a:pPr>
            <a:endParaRPr lang="en-IN" dirty="0"/>
          </a:p>
          <a:p>
            <a:pPr>
              <a:buFont typeface="Wingdings" pitchFamily="2" charset="2"/>
              <a:buChar char="Ø"/>
            </a:pPr>
            <a:endParaRPr lang="en-IN" dirty="0"/>
          </a:p>
        </p:txBody>
      </p:sp>
      <p:sp>
        <p:nvSpPr>
          <p:cNvPr id="4" name="Slide Number Placeholder 3">
            <a:extLst>
              <a:ext uri="{FF2B5EF4-FFF2-40B4-BE49-F238E27FC236}">
                <a16:creationId xmlns:a16="http://schemas.microsoft.com/office/drawing/2014/main" id="{D810331E-6EBB-71AA-28D4-91E8969252A7}"/>
              </a:ext>
            </a:extLst>
          </p:cNvPr>
          <p:cNvSpPr>
            <a:spLocks noGrp="1"/>
          </p:cNvSpPr>
          <p:nvPr>
            <p:ph type="sldNum" sz="quarter" idx="12"/>
          </p:nvPr>
        </p:nvSpPr>
        <p:spPr/>
        <p:txBody>
          <a:bodyPr/>
          <a:lstStyle/>
          <a:p>
            <a:fld id="{A575ECA5-96F4-415B-9B7B-F5BEE4B08E09}" type="slidenum">
              <a:rPr lang="en-IN" smtClean="0"/>
              <a:pPr/>
              <a:t>10</a:t>
            </a:fld>
            <a:endParaRPr lang="en-IN" dirty="0"/>
          </a:p>
        </p:txBody>
      </p:sp>
    </p:spTree>
    <p:extLst>
      <p:ext uri="{BB962C8B-B14F-4D97-AF65-F5344CB8AC3E}">
        <p14:creationId xmlns:p14="http://schemas.microsoft.com/office/powerpoint/2010/main" val="1539668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99F73-385A-C641-FFF2-C480FC45CB25}"/>
              </a:ext>
            </a:extLst>
          </p:cNvPr>
          <p:cNvSpPr>
            <a:spLocks noGrp="1"/>
          </p:cNvSpPr>
          <p:nvPr>
            <p:ph type="title"/>
          </p:nvPr>
        </p:nvSpPr>
        <p:spPr>
          <a:xfrm>
            <a:off x="1943225" y="481140"/>
            <a:ext cx="8911687" cy="1280890"/>
          </a:xfrm>
        </p:spPr>
        <p:txBody>
          <a:bodyPr/>
          <a:lstStyle/>
          <a:p>
            <a:pPr algn="ctr"/>
            <a:r>
              <a:rPr lang="en-US" dirty="0" err="1"/>
              <a:t>SnapShot</a:t>
            </a:r>
            <a:r>
              <a:rPr lang="en-US" dirty="0"/>
              <a:t> from Historica</a:t>
            </a:r>
            <a:endParaRPr lang="en-IN" dirty="0"/>
          </a:p>
        </p:txBody>
      </p:sp>
      <p:pic>
        <p:nvPicPr>
          <p:cNvPr id="6" name="Content Placeholder 5">
            <a:extLst>
              <a:ext uri="{FF2B5EF4-FFF2-40B4-BE49-F238E27FC236}">
                <a16:creationId xmlns:a16="http://schemas.microsoft.com/office/drawing/2014/main" id="{8F962658-E697-9D86-F14C-8AD7DD813E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3680" y="1290320"/>
            <a:ext cx="9351233" cy="4943570"/>
          </a:xfrm>
        </p:spPr>
      </p:pic>
      <p:sp>
        <p:nvSpPr>
          <p:cNvPr id="4" name="Slide Number Placeholder 3">
            <a:extLst>
              <a:ext uri="{FF2B5EF4-FFF2-40B4-BE49-F238E27FC236}">
                <a16:creationId xmlns:a16="http://schemas.microsoft.com/office/drawing/2014/main" id="{5A3B2D9A-90E4-1F88-4D75-DE9C89F9B269}"/>
              </a:ext>
            </a:extLst>
          </p:cNvPr>
          <p:cNvSpPr>
            <a:spLocks noGrp="1"/>
          </p:cNvSpPr>
          <p:nvPr>
            <p:ph type="sldNum" sz="quarter" idx="12"/>
          </p:nvPr>
        </p:nvSpPr>
        <p:spPr/>
        <p:txBody>
          <a:bodyPr/>
          <a:lstStyle/>
          <a:p>
            <a:fld id="{A575ECA5-96F4-415B-9B7B-F5BEE4B08E09}" type="slidenum">
              <a:rPr lang="en-IN" smtClean="0"/>
              <a:pPr/>
              <a:t>11</a:t>
            </a:fld>
            <a:endParaRPr lang="en-IN" dirty="0"/>
          </a:p>
        </p:txBody>
      </p:sp>
    </p:spTree>
    <p:extLst>
      <p:ext uri="{BB962C8B-B14F-4D97-AF65-F5344CB8AC3E}">
        <p14:creationId xmlns:p14="http://schemas.microsoft.com/office/powerpoint/2010/main" val="685482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F68A5-926D-3D19-08A8-8F0517D8E4DD}"/>
              </a:ext>
            </a:extLst>
          </p:cNvPr>
          <p:cNvSpPr>
            <a:spLocks noGrp="1"/>
          </p:cNvSpPr>
          <p:nvPr>
            <p:ph type="title"/>
          </p:nvPr>
        </p:nvSpPr>
        <p:spPr>
          <a:xfrm>
            <a:off x="1739485" y="492030"/>
            <a:ext cx="8911687" cy="1280890"/>
          </a:xfrm>
        </p:spPr>
        <p:txBody>
          <a:bodyPr/>
          <a:lstStyle/>
          <a:p>
            <a:endParaRPr lang="en-IN" dirty="0"/>
          </a:p>
        </p:txBody>
      </p:sp>
      <p:pic>
        <p:nvPicPr>
          <p:cNvPr id="6" name="Content Placeholder 5">
            <a:extLst>
              <a:ext uri="{FF2B5EF4-FFF2-40B4-BE49-F238E27FC236}">
                <a16:creationId xmlns:a16="http://schemas.microsoft.com/office/drawing/2014/main" id="{F4AB2628-C08B-28C1-75D4-574A25842A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3476" y="955040"/>
            <a:ext cx="8911687" cy="5278850"/>
          </a:xfrm>
        </p:spPr>
      </p:pic>
      <p:sp>
        <p:nvSpPr>
          <p:cNvPr id="4" name="Slide Number Placeholder 3">
            <a:extLst>
              <a:ext uri="{FF2B5EF4-FFF2-40B4-BE49-F238E27FC236}">
                <a16:creationId xmlns:a16="http://schemas.microsoft.com/office/drawing/2014/main" id="{C9D05EC0-78D2-B2EA-3AE0-FF312560A667}"/>
              </a:ext>
            </a:extLst>
          </p:cNvPr>
          <p:cNvSpPr>
            <a:spLocks noGrp="1"/>
          </p:cNvSpPr>
          <p:nvPr>
            <p:ph type="sldNum" sz="quarter" idx="12"/>
          </p:nvPr>
        </p:nvSpPr>
        <p:spPr/>
        <p:txBody>
          <a:bodyPr/>
          <a:lstStyle/>
          <a:p>
            <a:fld id="{A575ECA5-96F4-415B-9B7B-F5BEE4B08E09}" type="slidenum">
              <a:rPr lang="en-IN" smtClean="0"/>
              <a:pPr/>
              <a:t>12</a:t>
            </a:fld>
            <a:endParaRPr lang="en-IN" dirty="0"/>
          </a:p>
        </p:txBody>
      </p:sp>
    </p:spTree>
    <p:extLst>
      <p:ext uri="{BB962C8B-B14F-4D97-AF65-F5344CB8AC3E}">
        <p14:creationId xmlns:p14="http://schemas.microsoft.com/office/powerpoint/2010/main" val="3104534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BD67A-0DF3-913D-C80A-802BEE10D315}"/>
              </a:ext>
            </a:extLst>
          </p:cNvPr>
          <p:cNvSpPr>
            <a:spLocks noGrp="1"/>
          </p:cNvSpPr>
          <p:nvPr>
            <p:ph type="title"/>
          </p:nvPr>
        </p:nvSpPr>
        <p:spPr/>
        <p:txBody>
          <a:bodyPr/>
          <a:lstStyle/>
          <a:p>
            <a:endParaRPr lang="en-IN" dirty="0"/>
          </a:p>
        </p:txBody>
      </p:sp>
      <p:pic>
        <p:nvPicPr>
          <p:cNvPr id="6" name="Content Placeholder 5">
            <a:extLst>
              <a:ext uri="{FF2B5EF4-FFF2-40B4-BE49-F238E27FC236}">
                <a16:creationId xmlns:a16="http://schemas.microsoft.com/office/drawing/2014/main" id="{37EF2783-4D82-86D6-6770-BCDD501A8B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9943" y="924560"/>
            <a:ext cx="9341073" cy="5309330"/>
          </a:xfrm>
        </p:spPr>
      </p:pic>
      <p:sp>
        <p:nvSpPr>
          <p:cNvPr id="4" name="Slide Number Placeholder 3">
            <a:extLst>
              <a:ext uri="{FF2B5EF4-FFF2-40B4-BE49-F238E27FC236}">
                <a16:creationId xmlns:a16="http://schemas.microsoft.com/office/drawing/2014/main" id="{84BF31C0-DABF-A00D-D33C-70BBBB7F5706}"/>
              </a:ext>
            </a:extLst>
          </p:cNvPr>
          <p:cNvSpPr>
            <a:spLocks noGrp="1"/>
          </p:cNvSpPr>
          <p:nvPr>
            <p:ph type="sldNum" sz="quarter" idx="12"/>
          </p:nvPr>
        </p:nvSpPr>
        <p:spPr/>
        <p:txBody>
          <a:bodyPr/>
          <a:lstStyle/>
          <a:p>
            <a:fld id="{A575ECA5-96F4-415B-9B7B-F5BEE4B08E09}" type="slidenum">
              <a:rPr lang="en-IN" smtClean="0"/>
              <a:pPr/>
              <a:t>13</a:t>
            </a:fld>
            <a:endParaRPr lang="en-IN" dirty="0"/>
          </a:p>
        </p:txBody>
      </p:sp>
    </p:spTree>
    <p:extLst>
      <p:ext uri="{BB962C8B-B14F-4D97-AF65-F5344CB8AC3E}">
        <p14:creationId xmlns:p14="http://schemas.microsoft.com/office/powerpoint/2010/main" val="1119875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1896239" y="526138"/>
            <a:ext cx="8911687" cy="1280890"/>
          </a:xfrm>
        </p:spPr>
        <p:txBody>
          <a:bodyPr/>
          <a:lstStyle/>
          <a:p>
            <a:r>
              <a:rPr lang="en-IN" dirty="0"/>
              <a:t>REFERENCES</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1896239" y="1389586"/>
            <a:ext cx="8915400" cy="4706414"/>
          </a:xfrm>
        </p:spPr>
        <p:txBody>
          <a:bodyPr/>
          <a:lstStyle/>
          <a:p>
            <a:pPr marL="0" indent="0">
              <a:buFont typeface="Wingdings" pitchFamily="2" charset="2"/>
              <a:buChar char="Ø"/>
            </a:pPr>
            <a:endParaRPr lang="en-IN" b="1" u="sng" dirty="0"/>
          </a:p>
          <a:p>
            <a:pPr>
              <a:buFont typeface="Wingdings" pitchFamily="2" charset="2"/>
              <a:buChar char="Ø"/>
            </a:pPr>
            <a:r>
              <a:rPr lang="en-IN" sz="2000" b="1" dirty="0" err="1"/>
              <a:t>WebAR</a:t>
            </a:r>
            <a:r>
              <a:rPr lang="en-IN" sz="2000" b="1" dirty="0"/>
              <a:t> and 3D Visualization Technologies:</a:t>
            </a:r>
            <a:r>
              <a:rPr lang="en-IN" sz="2000" dirty="0"/>
              <a:t> Utilizes </a:t>
            </a:r>
            <a:r>
              <a:rPr lang="en-IN" sz="2000" b="1" dirty="0"/>
              <a:t>Three.js</a:t>
            </a:r>
            <a:r>
              <a:rPr lang="en-IN" sz="2000" dirty="0"/>
              <a:t> (</a:t>
            </a:r>
            <a:r>
              <a:rPr lang="en-IN" sz="2000" dirty="0">
                <a:hlinkClick r:id="rId2"/>
              </a:rPr>
              <a:t>threejs.org</a:t>
            </a:r>
            <a:r>
              <a:rPr lang="en-IN" sz="2000" dirty="0"/>
              <a:t>), </a:t>
            </a:r>
            <a:r>
              <a:rPr lang="en-IN" sz="2000" b="1" dirty="0"/>
              <a:t>A-Frame</a:t>
            </a:r>
            <a:r>
              <a:rPr lang="en-IN" sz="2000" dirty="0"/>
              <a:t> (</a:t>
            </a:r>
            <a:r>
              <a:rPr lang="en-IN" sz="2000" dirty="0">
                <a:hlinkClick r:id="rId3"/>
              </a:rPr>
              <a:t>aframe.io</a:t>
            </a:r>
            <a:r>
              <a:rPr lang="en-IN" sz="2000" dirty="0"/>
              <a:t>), and </a:t>
            </a:r>
            <a:r>
              <a:rPr lang="en-IN" sz="2000" b="1" dirty="0"/>
              <a:t>Model Viewer</a:t>
            </a:r>
            <a:r>
              <a:rPr lang="en-IN" sz="2000" dirty="0"/>
              <a:t> (</a:t>
            </a:r>
            <a:r>
              <a:rPr lang="en-IN" sz="2000" dirty="0" err="1">
                <a:hlinkClick r:id="rId4"/>
              </a:rPr>
              <a:t>modelviewer.dev</a:t>
            </a:r>
            <a:r>
              <a:rPr lang="en-IN" sz="2000" dirty="0"/>
              <a:t>) for rendering interactive 3D models and AR experiences in web browsers.</a:t>
            </a:r>
          </a:p>
          <a:p>
            <a:pPr>
              <a:buFont typeface="Wingdings" pitchFamily="2" charset="2"/>
              <a:buChar char="Ø"/>
            </a:pPr>
            <a:r>
              <a:rPr lang="en-GB" sz="2000" b="1" dirty="0"/>
              <a:t>Archaeological &amp; Historical Research Sources:</a:t>
            </a:r>
            <a:r>
              <a:rPr lang="en-GB" sz="2000" dirty="0"/>
              <a:t> Based on </a:t>
            </a:r>
            <a:r>
              <a:rPr lang="en-GB" sz="2000" b="1" dirty="0"/>
              <a:t>UNESCO’s cultural heritage data</a:t>
            </a:r>
            <a:r>
              <a:rPr lang="en-GB" sz="2000" dirty="0"/>
              <a:t> (</a:t>
            </a:r>
            <a:r>
              <a:rPr lang="en-GB" sz="2000" dirty="0">
                <a:hlinkClick r:id="rId5"/>
              </a:rPr>
              <a:t>whc.unesco.org</a:t>
            </a:r>
            <a:r>
              <a:rPr lang="en-GB" sz="2000" dirty="0"/>
              <a:t>), </a:t>
            </a:r>
            <a:r>
              <a:rPr lang="en-GB" sz="2000" b="1" dirty="0"/>
              <a:t>academic research papers</a:t>
            </a:r>
            <a:r>
              <a:rPr lang="en-GB" sz="2000" dirty="0"/>
              <a:t>, and </a:t>
            </a:r>
            <a:r>
              <a:rPr lang="en-GB" sz="2000" b="1" dirty="0"/>
              <a:t>museum archives</a:t>
            </a:r>
            <a:r>
              <a:rPr lang="en-GB" sz="2000" dirty="0"/>
              <a:t> to ensure accurate reconstructions of historical sites.</a:t>
            </a:r>
          </a:p>
          <a:p>
            <a:pPr>
              <a:buFont typeface="Wingdings" pitchFamily="2" charset="2"/>
              <a:buChar char="Ø"/>
            </a:pPr>
            <a:r>
              <a:rPr lang="en-IN" sz="2000" b="1" dirty="0" err="1"/>
              <a:t>CyArk</a:t>
            </a:r>
            <a:r>
              <a:rPr lang="en-IN" sz="2000" dirty="0"/>
              <a:t> (</a:t>
            </a:r>
            <a:r>
              <a:rPr lang="en-IN" sz="2000" dirty="0">
                <a:hlinkClick r:id="rId6"/>
              </a:rPr>
              <a:t>www.cyark.org</a:t>
            </a:r>
            <a:r>
              <a:rPr lang="en-IN" sz="2000" dirty="0"/>
              <a:t>)</a:t>
            </a:r>
            <a:endParaRPr lang="en-GB" sz="2000" dirty="0"/>
          </a:p>
          <a:p>
            <a:pPr>
              <a:buFont typeface="Wingdings" pitchFamily="2" charset="2"/>
              <a:buChar char="Ø"/>
            </a:pPr>
            <a:endParaRPr lang="en-IN" sz="2000" dirty="0"/>
          </a:p>
          <a:p>
            <a:pPr>
              <a:buFont typeface="Wingdings" pitchFamily="2" charset="2"/>
              <a:buChar char="Ø"/>
            </a:pPr>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14</a:t>
            </a:fld>
            <a:endParaRPr lang="en-IN" dirty="0"/>
          </a:p>
        </p:txBody>
      </p:sp>
    </p:spTree>
    <p:extLst>
      <p:ext uri="{BB962C8B-B14F-4D97-AF65-F5344CB8AC3E}">
        <p14:creationId xmlns:p14="http://schemas.microsoft.com/office/powerpoint/2010/main" val="334970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BF2-8E9B-B5CB-CD3B-77256299D7E2}"/>
              </a:ext>
            </a:extLst>
          </p:cNvPr>
          <p:cNvSpPr>
            <a:spLocks noGrp="1"/>
          </p:cNvSpPr>
          <p:nvPr>
            <p:ph type="title"/>
          </p:nvPr>
        </p:nvSpPr>
        <p:spPr>
          <a:xfrm>
            <a:off x="1983325" y="558796"/>
            <a:ext cx="8911687" cy="1280890"/>
          </a:xfrm>
        </p:spPr>
        <p:txBody>
          <a:bodyPr/>
          <a:lstStyle/>
          <a:p>
            <a:r>
              <a:rPr lang="en-IN" dirty="0"/>
              <a:t>GitHub Link</a:t>
            </a:r>
          </a:p>
        </p:txBody>
      </p:sp>
      <p:sp>
        <p:nvSpPr>
          <p:cNvPr id="3" name="Content Placeholder 2">
            <a:extLst>
              <a:ext uri="{FF2B5EF4-FFF2-40B4-BE49-F238E27FC236}">
                <a16:creationId xmlns:a16="http://schemas.microsoft.com/office/drawing/2014/main" id="{D609A8C4-4EBE-CD01-32B2-BE69FCAB26EC}"/>
              </a:ext>
            </a:extLst>
          </p:cNvPr>
          <p:cNvSpPr>
            <a:spLocks noGrp="1"/>
          </p:cNvSpPr>
          <p:nvPr>
            <p:ph idx="1"/>
          </p:nvPr>
        </p:nvSpPr>
        <p:spPr>
          <a:xfrm>
            <a:off x="2077583" y="1476672"/>
            <a:ext cx="8915400" cy="4363278"/>
          </a:xfrm>
        </p:spPr>
        <p:txBody>
          <a:bodyPr/>
          <a:lstStyle/>
          <a:p>
            <a:r>
              <a:rPr lang="en-IN" sz="2000" dirty="0">
                <a:hlinkClick r:id="rId2"/>
              </a:rPr>
              <a:t>https://</a:t>
            </a:r>
            <a:r>
              <a:rPr lang="en-IN" sz="2000" dirty="0" err="1">
                <a:hlinkClick r:id="rId2"/>
              </a:rPr>
              <a:t>github.com</a:t>
            </a:r>
            <a:r>
              <a:rPr lang="en-IN" sz="2000" dirty="0">
                <a:hlinkClick r:id="rId2"/>
              </a:rPr>
              <a:t>/Atharv-082004/</a:t>
            </a:r>
            <a:r>
              <a:rPr lang="en-IN" sz="2000" dirty="0" err="1">
                <a:hlinkClick r:id="rId2"/>
              </a:rPr>
              <a:t>Historica</a:t>
            </a:r>
            <a:endParaRPr lang="en-IN" sz="2000" dirty="0"/>
          </a:p>
          <a:p>
            <a:endParaRPr lang="en-IN" dirty="0"/>
          </a:p>
        </p:txBody>
      </p:sp>
      <p:sp>
        <p:nvSpPr>
          <p:cNvPr id="4" name="Slide Number Placeholder 3">
            <a:extLst>
              <a:ext uri="{FF2B5EF4-FFF2-40B4-BE49-F238E27FC236}">
                <a16:creationId xmlns:a16="http://schemas.microsoft.com/office/drawing/2014/main" id="{2B05DD90-3A03-1E63-4AD6-B6D9524845CA}"/>
              </a:ext>
            </a:extLst>
          </p:cNvPr>
          <p:cNvSpPr>
            <a:spLocks noGrp="1"/>
          </p:cNvSpPr>
          <p:nvPr>
            <p:ph type="sldNum" sz="quarter" idx="12"/>
          </p:nvPr>
        </p:nvSpPr>
        <p:spPr/>
        <p:txBody>
          <a:bodyPr/>
          <a:lstStyle/>
          <a:p>
            <a:fld id="{A575ECA5-96F4-415B-9B7B-F5BEE4B08E09}" type="slidenum">
              <a:rPr lang="en-IN" smtClean="0"/>
              <a:pPr/>
              <a:t>15</a:t>
            </a:fld>
            <a:endParaRPr lang="en-IN" dirty="0"/>
          </a:p>
        </p:txBody>
      </p:sp>
    </p:spTree>
    <p:extLst>
      <p:ext uri="{BB962C8B-B14F-4D97-AF65-F5344CB8AC3E}">
        <p14:creationId xmlns:p14="http://schemas.microsoft.com/office/powerpoint/2010/main" val="210836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65038-74F4-BFA9-7BB7-A3BBAFBCF2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48E571-788C-E54B-B080-EEB4F50A8528}"/>
              </a:ext>
            </a:extLst>
          </p:cNvPr>
          <p:cNvSpPr>
            <a:spLocks noGrp="1"/>
          </p:cNvSpPr>
          <p:nvPr>
            <p:ph idx="1"/>
          </p:nvPr>
        </p:nvSpPr>
        <p:spPr>
          <a:xfrm>
            <a:off x="2263194" y="1905000"/>
            <a:ext cx="8915400" cy="3777622"/>
          </a:xfrm>
        </p:spPr>
        <p:txBody>
          <a:bodyPr/>
          <a:lstStyle/>
          <a:p>
            <a:endParaRPr lang="en-IN" dirty="0"/>
          </a:p>
        </p:txBody>
      </p:sp>
      <p:sp>
        <p:nvSpPr>
          <p:cNvPr id="4" name="Slide Number Placeholder 3">
            <a:extLst>
              <a:ext uri="{FF2B5EF4-FFF2-40B4-BE49-F238E27FC236}">
                <a16:creationId xmlns:a16="http://schemas.microsoft.com/office/drawing/2014/main" id="{E81C9646-E93C-1967-B61B-316EFA0573BF}"/>
              </a:ext>
            </a:extLst>
          </p:cNvPr>
          <p:cNvSpPr>
            <a:spLocks noGrp="1"/>
          </p:cNvSpPr>
          <p:nvPr>
            <p:ph type="sldNum" sz="quarter" idx="12"/>
          </p:nvPr>
        </p:nvSpPr>
        <p:spPr/>
        <p:txBody>
          <a:bodyPr/>
          <a:lstStyle/>
          <a:p>
            <a:fld id="{A575ECA5-96F4-415B-9B7B-F5BEE4B08E09}" type="slidenum">
              <a:rPr lang="en-IN" smtClean="0"/>
              <a:pPr/>
              <a:t>16</a:t>
            </a:fld>
            <a:endParaRPr lang="en-IN" dirty="0"/>
          </a:p>
        </p:txBody>
      </p:sp>
      <p:sp>
        <p:nvSpPr>
          <p:cNvPr id="5" name="Rectangle 4">
            <a:extLst>
              <a:ext uri="{FF2B5EF4-FFF2-40B4-BE49-F238E27FC236}">
                <a16:creationId xmlns:a16="http://schemas.microsoft.com/office/drawing/2014/main" id="{09DA9428-B45B-20BA-B9BF-9EC990C7F486}"/>
              </a:ext>
            </a:extLst>
          </p:cNvPr>
          <p:cNvSpPr/>
          <p:nvPr/>
        </p:nvSpPr>
        <p:spPr>
          <a:xfrm>
            <a:off x="4483744" y="2237295"/>
            <a:ext cx="3647152"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6" name="Rectangle 5">
            <a:extLst>
              <a:ext uri="{FF2B5EF4-FFF2-40B4-BE49-F238E27FC236}">
                <a16:creationId xmlns:a16="http://schemas.microsoft.com/office/drawing/2014/main" id="{EB405D59-04E2-F173-8396-FFBCDFE0262A}"/>
              </a:ext>
            </a:extLst>
          </p:cNvPr>
          <p:cNvSpPr/>
          <p:nvPr/>
        </p:nvSpPr>
        <p:spPr>
          <a:xfrm>
            <a:off x="5049635" y="3185890"/>
            <a:ext cx="2820003" cy="923330"/>
          </a:xfrm>
          <a:prstGeom prst="rect">
            <a:avLst/>
          </a:prstGeom>
          <a:noFill/>
        </p:spPr>
        <p:txBody>
          <a:bodyPr wrap="none" lIns="91440" tIns="45720" rIns="91440" bIns="45720">
            <a:spAutoFit/>
          </a:bodyPr>
          <a:lstStyle/>
          <a:p>
            <a:r>
              <a:rPr lang="en-US" sz="5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Queries ?</a:t>
            </a:r>
          </a:p>
        </p:txBody>
      </p:sp>
    </p:spTree>
    <p:extLst>
      <p:ext uri="{BB962C8B-B14F-4D97-AF65-F5344CB8AC3E}">
        <p14:creationId xmlns:p14="http://schemas.microsoft.com/office/powerpoint/2010/main" val="317134107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382</TotalTime>
  <Words>943</Words>
  <Application>Microsoft Macintosh PowerPoint</Application>
  <PresentationFormat>Widescreen</PresentationFormat>
  <Paragraphs>112</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Century Gothic</vt:lpstr>
      <vt:lpstr>Elephant</vt:lpstr>
      <vt:lpstr>Times New Roman</vt:lpstr>
      <vt:lpstr>Wingdings</vt:lpstr>
      <vt:lpstr>Wingdings 3</vt:lpstr>
      <vt:lpstr>Wisp</vt:lpstr>
      <vt:lpstr>          Presentation on  Historica AR/VR Powered Immersive Historical Learning Experience</vt:lpstr>
      <vt:lpstr>Contents</vt:lpstr>
      <vt:lpstr>1. Introduction</vt:lpstr>
      <vt:lpstr>2. Literature Review</vt:lpstr>
      <vt:lpstr>3. Problem Statement</vt:lpstr>
      <vt:lpstr>4. Proposed Solution</vt:lpstr>
      <vt:lpstr>5. Objectives</vt:lpstr>
      <vt:lpstr>6. Block Diagram</vt:lpstr>
      <vt:lpstr>7. Key Features</vt:lpstr>
      <vt:lpstr>8. Social Impact &amp; Application</vt:lpstr>
      <vt:lpstr>SnapShot from Historica</vt:lpstr>
      <vt:lpstr>PowerPoint Presentation</vt:lpstr>
      <vt:lpstr>PowerPoint Presentation</vt:lpstr>
      <vt:lpstr>REFERENCES</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Synopsis Presentation on  Historica AR/VR Powered Immersive Historical Learning Experience</dc:title>
  <dc:creator>Deepak Singh Chouhan</dc:creator>
  <cp:lastModifiedBy>Atharv  Sharma</cp:lastModifiedBy>
  <cp:revision>29</cp:revision>
  <dcterms:created xsi:type="dcterms:W3CDTF">2024-09-26T07:25:32Z</dcterms:created>
  <dcterms:modified xsi:type="dcterms:W3CDTF">2026-04-06T05:22:58Z</dcterms:modified>
</cp:coreProperties>
</file>