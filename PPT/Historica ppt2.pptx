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71" r:id="rId12"/>
    <p:sldId id="265" r:id="rId13"/>
    <p:sldId id="273" r:id="rId14"/>
    <p:sldId id="274" r:id="rId15"/>
    <p:sldId id="268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61" autoAdjust="0"/>
    <p:restoredTop sz="94681"/>
  </p:normalViewPr>
  <p:slideViewPr>
    <p:cSldViewPr snapToGrid="0">
      <p:cViewPr varScale="1">
        <p:scale>
          <a:sx n="116" d="100"/>
          <a:sy n="116" d="100"/>
        </p:scale>
        <p:origin x="28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CFAE5-ADF6-4A84-8EA5-0D21F6BA36C9}" type="datetimeFigureOut">
              <a:rPr lang="en-IN" smtClean="0"/>
              <a:pPr/>
              <a:t>06/04/26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5D675-1F46-4B87-A5F8-67DB0C31E21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62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35D675-1F46-4B87-A5F8-67DB0C31E211}" type="slidenum">
              <a:rPr lang="en-IN" smtClean="0"/>
              <a:pPr/>
              <a:t>3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CE75-2696-426B-A7C6-7629D8CF2437}" type="datetime1">
              <a:rPr lang="en-IN" smtClean="0"/>
              <a:pPr/>
              <a:t>06/04/26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7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8F0E0-2234-4197-A558-6EA21AC7A0A0}" type="datetime1">
              <a:rPr lang="en-IN" smtClean="0"/>
              <a:pPr/>
              <a:t>06/04/26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 userDrawn="1"/>
        </p:nvSpPr>
        <p:spPr bwMode="auto">
          <a:xfrm rot="10800000" flipV="1">
            <a:off x="10587856" y="6247184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22029" y="6338155"/>
            <a:ext cx="779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75ECA5-96F4-415B-9B7B-F5BEE4B08E0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4E0AF9-0CD7-865F-F584-E7F93A8852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0" y="0"/>
            <a:ext cx="1457325" cy="1243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2BC9D-E099-1948-3435-FFC2468E3B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395" y="-394223"/>
            <a:ext cx="1017037" cy="18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6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3316-F1D2-4CFB-B3A8-36FF84D60DC1}" type="datetime1">
              <a:rPr lang="en-IN" smtClean="0"/>
              <a:pPr/>
              <a:t>06/04/26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4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2DD-462B-4CBA-AA0A-8301F8EE9842}" type="datetime1">
              <a:rPr lang="en-IN" smtClean="0"/>
              <a:pPr/>
              <a:t>06/04/26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02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0FB0-DEC5-44F8-B224-7DEA76B58BCE}" type="datetime1">
              <a:rPr lang="en-IN" smtClean="0"/>
              <a:pPr/>
              <a:t>06/04/26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3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51C4-12AA-486A-8A73-FD7CDFC9A495}" type="datetime1">
              <a:rPr lang="en-IN" smtClean="0"/>
              <a:pPr/>
              <a:t>06/04/26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89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A1EF-1C77-4320-9664-16BFC03E4F4D}" type="datetime1">
              <a:rPr lang="en-IN" smtClean="0"/>
              <a:pPr/>
              <a:t>06/04/26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484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BE58-E9FD-47D2-91AC-7CE0251A25B2}" type="datetime1">
              <a:rPr lang="en-IN" smtClean="0"/>
              <a:pPr/>
              <a:t>06/04/26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76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71803-78DB-4882-8A70-E311DA0EF9FC}" type="datetime1">
              <a:rPr lang="en-IN" smtClean="0"/>
              <a:pPr/>
              <a:t>06/04/26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96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28FF-BE53-47F7-B430-409A097CA437}" type="datetime1">
              <a:rPr lang="en-IN" smtClean="0"/>
              <a:pPr/>
              <a:t>06/04/26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5DF8-C87B-4AA2-B81E-F9B41C3DE973}" type="datetime1">
              <a:rPr lang="en-IN" smtClean="0"/>
              <a:pPr/>
              <a:t>06/04/26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4965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1343-E99C-4C22-AAE8-C343A811CECF}" type="datetime1">
              <a:rPr lang="en-IN" smtClean="0"/>
              <a:pPr/>
              <a:t>06/04/26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78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DC9B-DBC7-4258-BEB9-733492353AF9}" type="datetime1">
              <a:rPr lang="en-IN" smtClean="0"/>
              <a:pPr/>
              <a:t>06/04/26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5122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C6488-E703-4AFF-AB60-B11F0E50C7BC}" type="datetime1">
              <a:rPr lang="en-IN" smtClean="0"/>
              <a:pPr/>
              <a:t>06/04/26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11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63479-18BA-4E37-9716-A08D210E9EC7}" type="datetime1">
              <a:rPr lang="en-IN" smtClean="0"/>
              <a:pPr/>
              <a:t>06/04/26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54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7E75-1528-41FC-88CA-CFEB217670A5}" type="datetime1">
              <a:rPr lang="en-IN" smtClean="0"/>
              <a:pPr/>
              <a:t>06/04/26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55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58841-AB6D-42AC-A9E1-E0D97A1068DD}" type="datetime1">
              <a:rPr lang="en-IN" smtClean="0"/>
              <a:pPr/>
              <a:t>06/04/26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193EE77-AAE2-43CD-9ABE-9DB80FB4FF8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60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harv-082004/Historica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frame.io/" TargetMode="External"/><Relationship Id="rId2" Type="http://schemas.openxmlformats.org/officeDocument/2006/relationships/hyperlink" Target="https://threejs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cyark.org/" TargetMode="External"/><Relationship Id="rId5" Type="http://schemas.openxmlformats.org/officeDocument/2006/relationships/hyperlink" Target="https://whc.unesco.org/" TargetMode="External"/><Relationship Id="rId4" Type="http://schemas.openxmlformats.org/officeDocument/2006/relationships/hyperlink" Target="https://modelviewer.dev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4E13-AF13-FE84-B59A-88C7FF0D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1221" y="1133061"/>
            <a:ext cx="8915399" cy="2511551"/>
          </a:xfrm>
        </p:spPr>
        <p:txBody>
          <a:bodyPr>
            <a:normAutofit fontScale="90000"/>
          </a:bodyPr>
          <a:lstStyle/>
          <a:p>
            <a:pPr algn="ctr"/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b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latin typeface="Elephant" panose="02020904090505020303" pitchFamily="18" charset="0"/>
                <a:cs typeface="Times New Roman" panose="02020603050405020304" pitchFamily="18" charset="0"/>
              </a:rPr>
              <a:t>Historica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AR/VR Powered Immersive Historical Learning Experience</a:t>
            </a:r>
            <a:b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09E56-A5E9-0BDC-98BD-DDD921DCD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5453" y="3747052"/>
            <a:ext cx="9079464" cy="3031435"/>
          </a:xfrm>
        </p:spPr>
        <p:txBody>
          <a:bodyPr>
            <a:normAutofit fontScale="92500" lnSpcReduction="20000"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 Monika Choudhary								Atharv Sharma (0827IT233D02)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Khushi Agrawal (0827IT221076)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Abhishek Rathore (0827IT233D01)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Jatin Rao (0827IT233D03)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BC312B-2F58-B7DE-00D2-0142F8801F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059" y="-354166"/>
            <a:ext cx="1175716" cy="2090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5F9EF6-DBB5-9291-78C0-1BD5FCF2C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75" y="0"/>
            <a:ext cx="1620078" cy="138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7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8BD3-82F3-F887-7675-7696E56F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475750"/>
            <a:ext cx="8911687" cy="1280890"/>
          </a:xfrm>
        </p:spPr>
        <p:txBody>
          <a:bodyPr/>
          <a:lstStyle/>
          <a:p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D591-8615-A08A-67F8-943007048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152938"/>
            <a:ext cx="8915400" cy="5466523"/>
          </a:xfrm>
        </p:spPr>
        <p:txBody>
          <a:bodyPr>
            <a:normAutofit fontScale="6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Introduction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1.1</a:t>
            </a:r>
            <a:r>
              <a:rPr lang="en-IN" dirty="0"/>
              <a:t> Overview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1.2</a:t>
            </a:r>
            <a:r>
              <a:rPr lang="en-IN" dirty="0"/>
              <a:t> Purpose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Requirement Engineering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2.1</a:t>
            </a:r>
            <a:r>
              <a:rPr lang="en-IN" dirty="0"/>
              <a:t> Requirement Collection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2.2</a:t>
            </a:r>
            <a:r>
              <a:rPr lang="en-IN" dirty="0"/>
              <a:t> Functional Requirements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2.3</a:t>
            </a:r>
            <a:r>
              <a:rPr lang="en-IN" dirty="0"/>
              <a:t> Non Functional Requirements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2.4</a:t>
            </a:r>
            <a:r>
              <a:rPr lang="en-IN" dirty="0"/>
              <a:t> Use Case Diagram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Technical Design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3.1</a:t>
            </a:r>
            <a:r>
              <a:rPr lang="en-IN" dirty="0"/>
              <a:t> Technical Architecture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3.2</a:t>
            </a:r>
            <a:r>
              <a:rPr lang="en-IN" dirty="0"/>
              <a:t> Sequence Diagram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3.3</a:t>
            </a:r>
            <a:r>
              <a:rPr lang="en-IN" dirty="0"/>
              <a:t> Class Diagram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3.4</a:t>
            </a:r>
            <a:r>
              <a:rPr lang="en-IN" dirty="0"/>
              <a:t> DFD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User Interface Design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Data Design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5.1</a:t>
            </a:r>
            <a:r>
              <a:rPr lang="en-IN" dirty="0"/>
              <a:t> Schema Design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5.2</a:t>
            </a:r>
            <a:r>
              <a:rPr lang="en-IN" dirty="0"/>
              <a:t> E-R Diagram</a:t>
            </a:r>
          </a:p>
          <a:p>
            <a:pPr marL="0" indent="0">
              <a:buNone/>
            </a:pPr>
            <a:r>
              <a:rPr lang="en-IN" dirty="0"/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21891-9C7A-E4D4-07BD-AF0CB812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864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1.1 Overview</a:t>
            </a:r>
          </a:p>
          <a:p>
            <a:pPr lvl="1">
              <a:buFont typeface="Wingdings" pitchFamily="2" charset="2"/>
              <a:buChar char="Ø"/>
            </a:pPr>
            <a:r>
              <a:rPr lang="en-GB" b="1" dirty="0" err="1"/>
              <a:t>Historica</a:t>
            </a:r>
            <a:r>
              <a:rPr lang="en-GB" dirty="0"/>
              <a:t> is a </a:t>
            </a:r>
            <a:r>
              <a:rPr lang="en-GB" b="1" dirty="0"/>
              <a:t>web-based platform</a:t>
            </a:r>
            <a:r>
              <a:rPr lang="en-GB" dirty="0"/>
              <a:t> that provides </a:t>
            </a:r>
            <a:r>
              <a:rPr lang="en-GB" b="1" dirty="0"/>
              <a:t>interactive 3D models</a:t>
            </a:r>
            <a:r>
              <a:rPr lang="en-GB" dirty="0"/>
              <a:t> of historical sites, showcasing how they appeared in ancient times.</a:t>
            </a:r>
          </a:p>
          <a:p>
            <a:pPr lvl="1">
              <a:buFont typeface="Wingdings" pitchFamily="2" charset="2"/>
              <a:buChar char="Ø"/>
            </a:pPr>
            <a:r>
              <a:rPr lang="en-GB" dirty="0"/>
              <a:t>It allows users to </a:t>
            </a:r>
            <a:r>
              <a:rPr lang="en-GB" b="1" dirty="0"/>
              <a:t>explore ancient landmarks in detail</a:t>
            </a:r>
            <a:r>
              <a:rPr lang="en-GB" dirty="0"/>
              <a:t> with </a:t>
            </a:r>
            <a:r>
              <a:rPr lang="en-GB" b="1" dirty="0"/>
              <a:t>zoom, rotation, and AR integration</a:t>
            </a:r>
            <a:r>
              <a:rPr lang="en-GB" dirty="0"/>
              <a:t> for an immersive experience.</a:t>
            </a:r>
          </a:p>
          <a:p>
            <a:pPr lvl="1">
              <a:buFont typeface="Wingdings" pitchFamily="2" charset="2"/>
              <a:buChar char="Ø"/>
            </a:pPr>
            <a:r>
              <a:rPr lang="en-GB" dirty="0"/>
              <a:t>The platform combines </a:t>
            </a:r>
            <a:r>
              <a:rPr lang="en-GB" b="1" dirty="0"/>
              <a:t>historical accuracy with digital technology</a:t>
            </a:r>
            <a:r>
              <a:rPr lang="en-GB" dirty="0"/>
              <a:t>, making history more engaging and accessible.</a:t>
            </a:r>
          </a:p>
          <a:p>
            <a:pPr lvl="1">
              <a:buFont typeface="Wingdings" pitchFamily="2" charset="2"/>
              <a:buChar char="Ø"/>
            </a:pPr>
            <a:r>
              <a:rPr lang="en-GB" dirty="0"/>
              <a:t>Designed for </a:t>
            </a:r>
            <a:r>
              <a:rPr lang="en-GB" b="1" dirty="0"/>
              <a:t>students, researchers, educators, and history enthusiasts</a:t>
            </a:r>
            <a:r>
              <a:rPr lang="en-GB" dirty="0"/>
              <a:t>, it serves as an </a:t>
            </a:r>
            <a:r>
              <a:rPr lang="en-GB" b="1" dirty="0"/>
              <a:t>educational and cultural preservation tool</a:t>
            </a:r>
            <a:r>
              <a:rPr lang="en-GB" dirty="0"/>
              <a:t>.</a:t>
            </a:r>
            <a:endParaRPr lang="en-IN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1.2 Purpose</a:t>
            </a:r>
          </a:p>
          <a:p>
            <a:pPr lvl="1">
              <a:buFont typeface="Wingdings" pitchFamily="2" charset="2"/>
              <a:buChar char="Ø"/>
            </a:pPr>
            <a:r>
              <a:rPr lang="en-GB" b="1" dirty="0"/>
              <a:t>Enhance Historical Learning:</a:t>
            </a:r>
            <a:r>
              <a:rPr lang="en-GB" dirty="0"/>
              <a:t> Provides an interactive way to </a:t>
            </a:r>
            <a:r>
              <a:rPr lang="en-GB" b="1" dirty="0"/>
              <a:t>study history with visual reconstructions</a:t>
            </a:r>
            <a:r>
              <a:rPr lang="en-GB" dirty="0"/>
              <a:t>, making education more engaging.</a:t>
            </a:r>
          </a:p>
          <a:p>
            <a:pPr lvl="1">
              <a:buFont typeface="Wingdings" pitchFamily="2" charset="2"/>
              <a:buChar char="Ø"/>
            </a:pPr>
            <a:r>
              <a:rPr lang="en-GB" b="1" dirty="0"/>
              <a:t>Virtual Exploration &amp; Tourism:</a:t>
            </a:r>
            <a:r>
              <a:rPr lang="en-GB" dirty="0"/>
              <a:t> Enables users to </a:t>
            </a:r>
            <a:r>
              <a:rPr lang="en-GB" b="1" dirty="0"/>
              <a:t>experience historical sites remotely</a:t>
            </a:r>
            <a:r>
              <a:rPr lang="en-GB" dirty="0"/>
              <a:t>, bridging the gap between travel and digital learning.</a:t>
            </a:r>
            <a:endParaRPr lang="en-IN" dirty="0"/>
          </a:p>
          <a:p>
            <a:pPr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1755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2. Requirement Engineering</a:t>
            </a:r>
            <a:br>
              <a:rPr lang="en-IN" dirty="0"/>
            </a:br>
            <a:r>
              <a:rPr lang="en-IN" dirty="0"/>
              <a:t>	2.1 Requirement Collection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822837"/>
            <a:ext cx="8915400" cy="4363278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/>
              <a:t>User surveys &amp; interviews: </a:t>
            </a:r>
            <a:r>
              <a:rPr lang="en-US" dirty="0"/>
              <a:t>Talked to students and teachers to understand what features they’d like to see.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Studying similar apps: </a:t>
            </a:r>
            <a:r>
              <a:rPr lang="en-US" dirty="0"/>
              <a:t>Analyzed platforms like </a:t>
            </a:r>
            <a:r>
              <a:rPr lang="en-US" dirty="0" err="1"/>
              <a:t>Sketchfab</a:t>
            </a:r>
            <a:r>
              <a:rPr lang="en-US" dirty="0"/>
              <a:t> and more to see what works well and what’s missing.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Continuous feedback: </a:t>
            </a:r>
            <a:r>
              <a:rPr lang="en-US" dirty="0"/>
              <a:t>Created basic screen designs (UI flowcharts) and got early feedback from potential users.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Consultation with developers: </a:t>
            </a:r>
            <a:r>
              <a:rPr lang="en-US" dirty="0"/>
              <a:t>Discussed with the tech team to ensure selected tools could support 3D/AR features.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Research on historical content needs: R</a:t>
            </a:r>
            <a:r>
              <a:rPr lang="en-US" dirty="0"/>
              <a:t>eferred to sources like UNSECO and </a:t>
            </a:r>
            <a:r>
              <a:rPr lang="en-US" dirty="0" err="1"/>
              <a:t>CyArk</a:t>
            </a:r>
            <a:r>
              <a:rPr lang="en-US" dirty="0"/>
              <a:t> to understand what kind of information and accuracy users expect.</a:t>
            </a:r>
            <a:endParaRPr lang="en-IN" dirty="0"/>
          </a:p>
          <a:p>
            <a:pPr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561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2.2 Function Requirements</a:t>
            </a:r>
            <a:br>
              <a:rPr lang="en-IN" dirty="0"/>
            </a:br>
            <a:r>
              <a:rPr lang="en-IN" sz="2200" dirty="0"/>
              <a:t>(What the app must do)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/>
              <a:t>Site selection on map: </a:t>
            </a:r>
            <a:r>
              <a:rPr lang="en-US" dirty="0"/>
              <a:t>Users can view and select historical sites through an interactive map interface.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3D model interaction: </a:t>
            </a:r>
            <a:r>
              <a:rPr lang="en-US" dirty="0"/>
              <a:t>Users can rotate, zoom, and explore the site’s 3D model in detail.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Time travel feature: </a:t>
            </a:r>
            <a:r>
              <a:rPr lang="en-US" dirty="0"/>
              <a:t>A button allows switching between the site's current look and its state 100 years ago.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Information display:</a:t>
            </a:r>
            <a:r>
              <a:rPr lang="en-US" dirty="0"/>
              <a:t> Each site shows historical facts, images, and timelines for learning purposes.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95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2.2 Non Functional Requirements</a:t>
            </a:r>
            <a:br>
              <a:rPr lang="en-IN" dirty="0"/>
            </a:br>
            <a:r>
              <a:rPr lang="en-IN" sz="2400" dirty="0"/>
              <a:t>(How the app should perform)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95405"/>
            <a:ext cx="8915400" cy="436327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IN" b="1" dirty="0"/>
              <a:t>Fast and smooth performance:</a:t>
            </a:r>
            <a:r>
              <a:rPr lang="en-IN" dirty="0"/>
              <a:t> Built with </a:t>
            </a:r>
            <a:r>
              <a:rPr lang="en-IN" dirty="0" err="1"/>
              <a:t>Vite</a:t>
            </a:r>
            <a:r>
              <a:rPr lang="en-IN" dirty="0"/>
              <a:t> and optimized 3D rendering for fast load and smooth animations.</a:t>
            </a:r>
          </a:p>
          <a:p>
            <a:pPr>
              <a:buFont typeface="Wingdings" pitchFamily="2" charset="2"/>
              <a:buChar char="Ø"/>
            </a:pPr>
            <a:r>
              <a:rPr lang="en-IN" b="1" dirty="0"/>
              <a:t>Cross-device compatibility: </a:t>
            </a:r>
            <a:r>
              <a:rPr lang="en-IN" dirty="0"/>
              <a:t>Works well on desktops, tablets, and phones, future-ready for VR headsets.</a:t>
            </a:r>
          </a:p>
          <a:p>
            <a:pPr>
              <a:buFont typeface="Wingdings" pitchFamily="2" charset="2"/>
              <a:buChar char="Ø"/>
            </a:pPr>
            <a:r>
              <a:rPr lang="en-IN" b="1" dirty="0"/>
              <a:t>Easy to maintain &amp; update: </a:t>
            </a:r>
            <a:r>
              <a:rPr lang="en-IN" dirty="0"/>
              <a:t>Uses </a:t>
            </a:r>
            <a:r>
              <a:rPr lang="en-IN" dirty="0" err="1"/>
              <a:t>TypeScript</a:t>
            </a:r>
            <a:r>
              <a:rPr lang="en-IN" dirty="0"/>
              <a:t> and Drizzle ORM to make backend logic and updates easy to manage.</a:t>
            </a:r>
          </a:p>
          <a:p>
            <a:pPr>
              <a:buFont typeface="Wingdings" pitchFamily="2" charset="2"/>
              <a:buChar char="Ø"/>
            </a:pPr>
            <a:r>
              <a:rPr lang="en-IN" b="1" dirty="0"/>
              <a:t>Attractive and responsive UI:</a:t>
            </a:r>
            <a:r>
              <a:rPr lang="en-IN" dirty="0"/>
              <a:t> Uses Tailwind CSS, Framer Motion, and </a:t>
            </a:r>
            <a:r>
              <a:rPr lang="en-IN" dirty="0" err="1"/>
              <a:t>Lucide</a:t>
            </a:r>
            <a:r>
              <a:rPr lang="en-IN" dirty="0"/>
              <a:t> icons to create a user-friendly and visually appealing interface.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116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2.3 Use 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7</a:t>
            </a:fld>
            <a:endParaRPr lang="en-IN" dirty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10712" y="1551704"/>
            <a:ext cx="6025896" cy="5083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70974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3. Technical Design</a:t>
            </a:r>
            <a:br>
              <a:rPr lang="en-IN" dirty="0"/>
            </a:br>
            <a:r>
              <a:rPr lang="en-IN" dirty="0"/>
              <a:t>	</a:t>
            </a:r>
            <a:r>
              <a:rPr lang="en-IN" dirty="0">
                <a:solidFill>
                  <a:schemeClr val="tx1"/>
                </a:solidFill>
              </a:rPr>
              <a:t>3.1</a:t>
            </a:r>
            <a:r>
              <a:rPr lang="en-IN" dirty="0"/>
              <a:t> Technical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IN" dirty="0"/>
              <a:t>System Architecture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7225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E8171-3C93-3951-64B3-73BCBD9C6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99705-08D0-11A7-6890-F6B46FB1D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3.2</a:t>
            </a:r>
            <a:r>
              <a:rPr lang="en-IN" dirty="0"/>
              <a:t> Sequence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A5758-5323-C7B4-8A6F-91E3A4C3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9</a:t>
            </a:fld>
            <a:endParaRPr lang="en-IN" dirty="0"/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39707" y="1264780"/>
            <a:ext cx="8242237" cy="5184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49227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B5D6A-F7D1-6412-26B3-02B46141F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5C94F-6893-A33B-F5CF-63D0B67E2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3.3</a:t>
            </a:r>
            <a:r>
              <a:rPr lang="en-IN" dirty="0"/>
              <a:t> Class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1E688-A8B7-5E5C-DF65-BD1B8E12D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IN" dirty="0"/>
              <a:t>System Class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55AB3-9666-3FFB-D6B6-F32094E9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128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850E2-726A-D8A0-14A3-FA115C9A8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2000C-B2B2-2070-C829-0ECA1055B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3.4</a:t>
            </a:r>
            <a:r>
              <a:rPr lang="en-IN" dirty="0"/>
              <a:t> DFD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ED492-CC1E-860E-2EFD-CE70F63B2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IN" dirty="0"/>
              <a:t>DFD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78091-2D23-B207-FD6C-0B5E9DC29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4780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4. User Inface Design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IN" dirty="0"/>
              <a:t>(</a:t>
            </a:r>
            <a:r>
              <a:rPr lang="en-IN" b="1" dirty="0"/>
              <a:t>Note: </a:t>
            </a:r>
            <a:r>
              <a:rPr lang="en-IN" dirty="0"/>
              <a:t>Need to show the Working UI during the presentation and Attach Screen Shots of working UI here)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1340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22852-63C4-7A34-B212-654773ED4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6C5C4-78A9-C6ED-6882-CC0E8210A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4. Data Design</a:t>
            </a:r>
            <a:br>
              <a:rPr lang="en-IN" dirty="0"/>
            </a:br>
            <a:r>
              <a:rPr lang="en-IN" dirty="0"/>
              <a:t>	4.1 Schema Definition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F75AC-B592-49CF-C33A-EDF8D56BB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IN" dirty="0"/>
              <a:t>Complete Database Design.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6B82A-42E5-0552-2F10-B51BDFAC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4156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7C023-2964-6149-6EB0-77AE30C21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7E875-0BD5-0960-C462-C44DE8ABD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4.2 E-R Diagram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4FAB1-8619-EA65-D52B-6696C7DD5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IN" dirty="0"/>
              <a:t>System E-R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B9194-0758-86E1-5DFC-F8CCA77CD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6381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IN" dirty="0">
                <a:hlinkClick r:id="rId2"/>
              </a:rPr>
              <a:t> https://</a:t>
            </a:r>
            <a:r>
              <a:rPr lang="en-IN" dirty="0" err="1">
                <a:hlinkClick r:id="rId2"/>
              </a:rPr>
              <a:t>github.com</a:t>
            </a:r>
            <a:r>
              <a:rPr lang="en-IN" dirty="0">
                <a:hlinkClick r:id="rId2"/>
              </a:rPr>
              <a:t>/Atharv-082004/</a:t>
            </a:r>
            <a:r>
              <a:rPr lang="en-IN" dirty="0" err="1">
                <a:hlinkClick r:id="rId2"/>
              </a:rPr>
              <a:t>Historica</a:t>
            </a:r>
            <a:endParaRPr lang="en-IN" dirty="0">
              <a:hlinkClick r:id="rId2"/>
            </a:endParaRPr>
          </a:p>
          <a:p>
            <a:pPr>
              <a:buFont typeface="Wingdings" pitchFamily="2" charset="2"/>
              <a:buChar char="Ø"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836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IN" sz="1800" b="1" dirty="0" err="1"/>
              <a:t>WebAR</a:t>
            </a:r>
            <a:r>
              <a:rPr lang="en-IN" sz="1800" b="1" dirty="0"/>
              <a:t> and 3D Visualization Technologies:</a:t>
            </a:r>
            <a:r>
              <a:rPr lang="en-IN" sz="1800" dirty="0"/>
              <a:t> Utilizes </a:t>
            </a:r>
            <a:r>
              <a:rPr lang="en-IN" sz="1800" b="1" dirty="0"/>
              <a:t>Three.js</a:t>
            </a:r>
            <a:r>
              <a:rPr lang="en-IN" sz="1800" dirty="0"/>
              <a:t> (</a:t>
            </a:r>
            <a:r>
              <a:rPr lang="en-IN" sz="1800" dirty="0">
                <a:hlinkClick r:id="rId2"/>
              </a:rPr>
              <a:t>threejs.org</a:t>
            </a:r>
            <a:r>
              <a:rPr lang="en-IN" sz="1800" dirty="0"/>
              <a:t>), </a:t>
            </a:r>
            <a:r>
              <a:rPr lang="en-IN" sz="1800" b="1" dirty="0"/>
              <a:t>A-Frame</a:t>
            </a:r>
            <a:r>
              <a:rPr lang="en-IN" sz="1800" dirty="0"/>
              <a:t> (</a:t>
            </a:r>
            <a:r>
              <a:rPr lang="en-IN" sz="1800" dirty="0">
                <a:hlinkClick r:id="rId3"/>
              </a:rPr>
              <a:t>aframe.io</a:t>
            </a:r>
            <a:r>
              <a:rPr lang="en-IN" sz="1800" dirty="0"/>
              <a:t>), and </a:t>
            </a:r>
            <a:r>
              <a:rPr lang="en-IN" sz="1800" b="1" dirty="0"/>
              <a:t>Model Viewer</a:t>
            </a:r>
            <a:r>
              <a:rPr lang="en-IN" sz="1800" dirty="0"/>
              <a:t> (</a:t>
            </a:r>
            <a:r>
              <a:rPr lang="en-IN" sz="1800" dirty="0">
                <a:hlinkClick r:id="rId4"/>
              </a:rPr>
              <a:t>modelviewer.dev</a:t>
            </a:r>
            <a:r>
              <a:rPr lang="en-IN" sz="1800" dirty="0"/>
              <a:t>) for rendering interactive 3D models and AR experiences in web browsers.</a:t>
            </a:r>
          </a:p>
          <a:p>
            <a:pPr>
              <a:buFont typeface="Wingdings" pitchFamily="2" charset="2"/>
              <a:buChar char="Ø"/>
            </a:pPr>
            <a:r>
              <a:rPr lang="en-GB" sz="1800" b="1" dirty="0"/>
              <a:t>Archaeological &amp; Historical Research Sources:</a:t>
            </a:r>
            <a:r>
              <a:rPr lang="en-GB" sz="1800" dirty="0"/>
              <a:t> Based on </a:t>
            </a:r>
            <a:r>
              <a:rPr lang="en-GB" sz="1800" b="1" dirty="0"/>
              <a:t>UNESCO’s cultural heritage data</a:t>
            </a:r>
            <a:r>
              <a:rPr lang="en-GB" sz="1800" dirty="0"/>
              <a:t> (</a:t>
            </a:r>
            <a:r>
              <a:rPr lang="en-GB" sz="1800" dirty="0">
                <a:hlinkClick r:id="rId5"/>
              </a:rPr>
              <a:t>whc.unesco.org</a:t>
            </a:r>
            <a:r>
              <a:rPr lang="en-GB" sz="1800" dirty="0"/>
              <a:t>), </a:t>
            </a:r>
            <a:r>
              <a:rPr lang="en-GB" sz="1800" b="1" dirty="0"/>
              <a:t>academic research papers</a:t>
            </a:r>
            <a:r>
              <a:rPr lang="en-GB" sz="1800" dirty="0"/>
              <a:t>, and </a:t>
            </a:r>
            <a:r>
              <a:rPr lang="en-GB" sz="1800" b="1" dirty="0"/>
              <a:t>museum archives</a:t>
            </a:r>
            <a:r>
              <a:rPr lang="en-GB" sz="1800" dirty="0"/>
              <a:t> to ensure accurate reconstructions of historical sites.</a:t>
            </a:r>
          </a:p>
          <a:p>
            <a:pPr>
              <a:buFont typeface="Wingdings" pitchFamily="2" charset="2"/>
              <a:buChar char="Ø"/>
            </a:pPr>
            <a:r>
              <a:rPr lang="en-IN" sz="1800" b="1" dirty="0" err="1"/>
              <a:t>CyArk</a:t>
            </a:r>
            <a:r>
              <a:rPr lang="en-IN" sz="1800" dirty="0"/>
              <a:t> (</a:t>
            </a:r>
            <a:r>
              <a:rPr lang="en-IN" sz="1800" dirty="0">
                <a:hlinkClick r:id="rId6"/>
              </a:rPr>
              <a:t>www.cyark.org</a:t>
            </a:r>
            <a:r>
              <a:rPr lang="en-IN" sz="1800" dirty="0"/>
              <a:t>)</a:t>
            </a:r>
            <a:endParaRPr lang="en-GB" sz="1800" dirty="0"/>
          </a:p>
          <a:p>
            <a:pPr>
              <a:buFont typeface="Wingdings" pitchFamily="2" charset="2"/>
              <a:buChar char="Ø"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970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65038-74F4-BFA9-7BB7-A3BBAFBCF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8E571-788C-E54B-B080-EEB4F50A8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C9646-E93C-1967-B61B-316EFA05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DA9428-B45B-20BA-B9BF-9EC990C7F486}"/>
              </a:ext>
            </a:extLst>
          </p:cNvPr>
          <p:cNvSpPr/>
          <p:nvPr/>
        </p:nvSpPr>
        <p:spPr>
          <a:xfrm>
            <a:off x="5057618" y="2967335"/>
            <a:ext cx="36471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405D59-04E2-F173-8396-FFBCDFE0262A}"/>
              </a:ext>
            </a:extLst>
          </p:cNvPr>
          <p:cNvSpPr/>
          <p:nvPr/>
        </p:nvSpPr>
        <p:spPr>
          <a:xfrm>
            <a:off x="5310893" y="4262735"/>
            <a:ext cx="28200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Queries ?</a:t>
            </a:r>
          </a:p>
        </p:txBody>
      </p:sp>
    </p:spTree>
    <p:extLst>
      <p:ext uri="{BB962C8B-B14F-4D97-AF65-F5344CB8AC3E}">
        <p14:creationId xmlns:p14="http://schemas.microsoft.com/office/powerpoint/2010/main" val="317134107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281</TotalTime>
  <Words>774</Words>
  <Application>Microsoft Macintosh PowerPoint</Application>
  <PresentationFormat>Widescreen</PresentationFormat>
  <Paragraphs>95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Century Gothic</vt:lpstr>
      <vt:lpstr>Elephant</vt:lpstr>
      <vt:lpstr>Times New Roman</vt:lpstr>
      <vt:lpstr>Wingdings</vt:lpstr>
      <vt:lpstr>Wingdings 3</vt:lpstr>
      <vt:lpstr>Wisp</vt:lpstr>
      <vt:lpstr>          Presentation on  Historica AR/VR Powered Immersive Historical Learning Experience </vt:lpstr>
      <vt:lpstr>Contents</vt:lpstr>
      <vt:lpstr>1. Introduction</vt:lpstr>
      <vt:lpstr>2. Requirement Engineering  2.1 Requirement Collection  </vt:lpstr>
      <vt:lpstr>2.2 Function Requirements (What the app must do)</vt:lpstr>
      <vt:lpstr>2.2 Non Functional Requirements (How the app should perform) </vt:lpstr>
      <vt:lpstr>2.3 Use Case Diagram</vt:lpstr>
      <vt:lpstr>3. Technical Design  3.1 Technical Architecture</vt:lpstr>
      <vt:lpstr>3.2 Sequence Diagram</vt:lpstr>
      <vt:lpstr>3.3 Class Diagram</vt:lpstr>
      <vt:lpstr>3.4 DFD</vt:lpstr>
      <vt:lpstr>4. User Inface Design </vt:lpstr>
      <vt:lpstr>4. Data Design  4.1 Schema Definition </vt:lpstr>
      <vt:lpstr>4.2 E-R Diagram </vt:lpstr>
      <vt:lpstr>GitHub Link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on  Title of Project</dc:title>
  <dc:creator>Deepak Singh Chouhan</dc:creator>
  <cp:lastModifiedBy>Atharv  Sharma</cp:lastModifiedBy>
  <cp:revision>29</cp:revision>
  <dcterms:created xsi:type="dcterms:W3CDTF">2024-09-26T07:25:32Z</dcterms:created>
  <dcterms:modified xsi:type="dcterms:W3CDTF">2026-04-06T05:22:12Z</dcterms:modified>
</cp:coreProperties>
</file>